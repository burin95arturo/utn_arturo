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2"/>
    <p:sldId id="256" r:id="rId3"/>
    <p:sldId id="269" r:id="rId4"/>
    <p:sldId id="259" r:id="rId5"/>
    <p:sldId id="260" r:id="rId6"/>
    <p:sldId id="262" r:id="rId7"/>
    <p:sldId id="327" r:id="rId8"/>
    <p:sldId id="270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1" r:id="rId25"/>
    <p:sldId id="292" r:id="rId26"/>
    <p:sldId id="293" r:id="rId27"/>
    <p:sldId id="294" r:id="rId28"/>
    <p:sldId id="298" r:id="rId29"/>
    <p:sldId id="300" r:id="rId30"/>
    <p:sldId id="301" r:id="rId31"/>
    <p:sldId id="302" r:id="rId32"/>
    <p:sldId id="306" r:id="rId33"/>
    <p:sldId id="307" r:id="rId34"/>
    <p:sldId id="308" r:id="rId35"/>
    <p:sldId id="309" r:id="rId36"/>
    <p:sldId id="318" r:id="rId37"/>
    <p:sldId id="321" r:id="rId38"/>
    <p:sldId id="322" r:id="rId39"/>
    <p:sldId id="323" r:id="rId40"/>
    <p:sldId id="324" r:id="rId41"/>
    <p:sldId id="325" r:id="rId42"/>
    <p:sldId id="326" r:id="rId43"/>
    <p:sldId id="320" r:id="rId44"/>
    <p:sldId id="263" r:id="rId45"/>
    <p:sldId id="264" r:id="rId46"/>
    <p:sldId id="265" r:id="rId47"/>
    <p:sldId id="266" r:id="rId4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5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1EC97-811B-49FC-852C-9178A5B372A9}" type="datetimeFigureOut">
              <a:rPr lang="es-AR" smtClean="0"/>
              <a:pPr/>
              <a:t>5/4/2019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6674D-5B8A-49C6-BABF-D9E5167119E4}" type="slidenum">
              <a:rPr lang="es-AR" smtClean="0"/>
              <a:pPr/>
              <a:t>‹#›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ownload.eclipse.org/egit/updates" TargetMode="External"/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updates.yakindu.org/sct/mars/releases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lab.com/team_name/tp1.git" TargetMode="External"/><Relationship Id="rId2" Type="http://schemas.openxmlformats.org/officeDocument/2006/relationships/hyperlink" Target="http://www.gitlab.com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lab.com/team_name/tp1.git" TargetMode="External"/><Relationship Id="rId2" Type="http://schemas.openxmlformats.org/officeDocument/2006/relationships/hyperlink" Target="http://www.gitlab.com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syntevo.com/smartgit/download?file=smartgit/smartgit-win32-setup-jre-17_0_3.zip" TargetMode="External"/><Relationship Id="rId4" Type="http://schemas.openxmlformats.org/officeDocument/2006/relationships/hyperlink" Target="https://gitlab.com/TDII_R4051_GrupoX/tp1.git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b="1" dirty="0" smtClean="0"/>
              <a:t>Clase Práctica I</a:t>
            </a:r>
            <a:endParaRPr lang="es-A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89000" y="406399"/>
            <a:ext cx="10172700" cy="4270103"/>
          </a:xfrm>
        </p:spPr>
        <p:txBody>
          <a:bodyPr>
            <a:noAutofit/>
          </a:bodyPr>
          <a:lstStyle/>
          <a:p>
            <a:pPr algn="l"/>
            <a:r>
              <a:rPr lang="es-AR" sz="3200" b="1" dirty="0"/>
              <a:t>Prólogo: Puesta a punto del Entorno de </a:t>
            </a:r>
            <a:r>
              <a:rPr lang="es-AR" sz="3200" b="1" dirty="0" smtClean="0"/>
              <a:t>Desarrollo (1)</a:t>
            </a:r>
            <a:endParaRPr lang="es-AR" sz="3200" b="1" dirty="0"/>
          </a:p>
          <a:p>
            <a:pPr lvl="0" algn="l"/>
            <a:endParaRPr lang="es-AR" sz="1600" u="none" strike="noStrike" dirty="0" smtClean="0">
              <a:effectLst/>
            </a:endParaRPr>
          </a:p>
          <a:p>
            <a:pPr marL="457200" lvl="0" indent="-457200" algn="l">
              <a:buAutoNum type="arabicParenR"/>
            </a:pPr>
            <a:r>
              <a:rPr lang="es-AR" u="none" strike="noStrike" dirty="0" smtClean="0">
                <a:effectLst/>
              </a:rPr>
              <a:t>Instale </a:t>
            </a:r>
            <a:r>
              <a:rPr lang="es-AR" u="none" strike="noStrike" dirty="0" err="1" smtClean="0">
                <a:effectLst/>
              </a:rPr>
              <a:t>Git</a:t>
            </a:r>
            <a:r>
              <a:rPr lang="es-AR" u="none" strike="noStrike" dirty="0" smtClean="0">
                <a:effectLst/>
              </a:rPr>
              <a:t> (</a:t>
            </a:r>
            <a:r>
              <a:rPr lang="es-AR" dirty="0">
                <a:hlinkClick r:id="rId2"/>
              </a:rPr>
              <a:t>https://git-scm.com</a:t>
            </a:r>
            <a:r>
              <a:rPr lang="es-AR" dirty="0" smtClean="0">
                <a:hlinkClick r:id="rId2"/>
              </a:rPr>
              <a:t>/</a:t>
            </a:r>
            <a:r>
              <a:rPr lang="es-AR" u="none" strike="noStrike" dirty="0" smtClean="0">
                <a:effectLst/>
              </a:rPr>
              <a:t>)</a:t>
            </a:r>
          </a:p>
          <a:p>
            <a:pPr marL="457200" lvl="0" indent="-457200" algn="l">
              <a:buAutoNum type="arabicParenR"/>
            </a:pPr>
            <a:r>
              <a:rPr lang="es-AR" u="none" strike="noStrike" dirty="0" smtClean="0">
                <a:effectLst/>
              </a:rPr>
              <a:t>Instale </a:t>
            </a:r>
            <a:r>
              <a:rPr lang="es-AR" dirty="0" err="1" smtClean="0"/>
              <a:t>LPC</a:t>
            </a:r>
            <a:r>
              <a:rPr lang="es-AR" u="none" strike="noStrike" dirty="0" err="1" smtClean="0">
                <a:effectLst/>
              </a:rPr>
              <a:t>Xpresso</a:t>
            </a:r>
            <a:r>
              <a:rPr lang="es-AR" u="none" strike="noStrike" dirty="0" smtClean="0">
                <a:effectLst/>
              </a:rPr>
              <a:t> para Windows o Linux. Actívelo para remover las advertencias.</a:t>
            </a:r>
          </a:p>
          <a:p>
            <a:pPr lvl="0" algn="l"/>
            <a:r>
              <a:rPr lang="es-AR" dirty="0" smtClean="0"/>
              <a:t>3) Agregue </a:t>
            </a:r>
            <a:r>
              <a:rPr lang="es-AR" dirty="0"/>
              <a:t>los siguientes </a:t>
            </a:r>
            <a:r>
              <a:rPr lang="es-AR" dirty="0" err="1"/>
              <a:t>plug-ins</a:t>
            </a:r>
            <a:r>
              <a:rPr lang="es-AR" dirty="0"/>
              <a:t> </a:t>
            </a:r>
            <a:r>
              <a:rPr lang="es-AR" dirty="0" smtClean="0"/>
              <a:t>dentro del </a:t>
            </a:r>
            <a:r>
              <a:rPr lang="es-AR" dirty="0" err="1" smtClean="0"/>
              <a:t>LPCXpresso</a:t>
            </a:r>
            <a:r>
              <a:rPr lang="es-AR" dirty="0" smtClean="0"/>
              <a:t>(</a:t>
            </a:r>
            <a:r>
              <a:rPr lang="es-AR" dirty="0" err="1" smtClean="0"/>
              <a:t>Help</a:t>
            </a:r>
            <a:r>
              <a:rPr lang="es-AR" dirty="0" smtClean="0"/>
              <a:t> </a:t>
            </a:r>
            <a:r>
              <a:rPr lang="es-AR" dirty="0"/>
              <a:t>→ </a:t>
            </a:r>
            <a:r>
              <a:rPr lang="es-AR" dirty="0" err="1"/>
              <a:t>Install</a:t>
            </a:r>
            <a:r>
              <a:rPr lang="es-AR" dirty="0"/>
              <a:t> New Software…): </a:t>
            </a:r>
            <a:endParaRPr lang="es-AR" u="none" strike="noStrike" dirty="0" smtClean="0">
              <a:effectLst/>
            </a:endParaRPr>
          </a:p>
          <a:p>
            <a:pPr lvl="1" algn="l"/>
            <a:r>
              <a:rPr lang="es-AR" sz="2400" u="none" strike="noStrike" dirty="0" smtClean="0">
                <a:effectLst/>
              </a:rPr>
              <a:t>	</a:t>
            </a:r>
            <a:r>
              <a:rPr lang="es-AR" sz="2400" u="none" strike="noStrike" dirty="0" err="1" smtClean="0">
                <a:effectLst/>
              </a:rPr>
              <a:t>Git</a:t>
            </a:r>
            <a:r>
              <a:rPr lang="es-AR" sz="2400" u="none" strike="noStrike" dirty="0" smtClean="0">
                <a:effectLst/>
              </a:rPr>
              <a:t>: </a:t>
            </a:r>
            <a:r>
              <a:rPr lang="es-AR" sz="2400" dirty="0" smtClean="0">
                <a:hlinkClick r:id="rId3"/>
              </a:rPr>
              <a:t>http://download.eclipse.org/egit/updates</a:t>
            </a:r>
            <a:endParaRPr lang="es-AR" sz="2400" u="none" strike="noStrike" dirty="0" smtClean="0">
              <a:effectLst/>
            </a:endParaRPr>
          </a:p>
          <a:p>
            <a:pPr lvl="1" algn="l"/>
            <a:r>
              <a:rPr lang="en-US" sz="2400" u="none" strike="noStrike" dirty="0" smtClean="0">
                <a:effectLst/>
              </a:rPr>
              <a:t>	</a:t>
            </a:r>
            <a:r>
              <a:rPr lang="en-US" sz="2400" u="none" strike="noStrike" dirty="0" err="1" smtClean="0">
                <a:effectLst/>
              </a:rPr>
              <a:t>Yakindu</a:t>
            </a:r>
            <a:r>
              <a:rPr lang="en-US" sz="2400" u="none" strike="noStrike" dirty="0" smtClean="0">
                <a:effectLst/>
              </a:rPr>
              <a:t> </a:t>
            </a:r>
            <a:r>
              <a:rPr lang="en-US" sz="2400" u="none" strike="noStrike" dirty="0" err="1" smtClean="0">
                <a:effectLst/>
              </a:rPr>
              <a:t>Statechart</a:t>
            </a:r>
            <a:r>
              <a:rPr lang="en-US" sz="2400" u="none" strike="noStrike" dirty="0" smtClean="0">
                <a:effectLst/>
              </a:rPr>
              <a:t> Tools: </a:t>
            </a:r>
            <a:r>
              <a:rPr lang="en-US" sz="2400" dirty="0" smtClean="0">
                <a:hlinkClick r:id="rId4"/>
              </a:rPr>
              <a:t>http://updates.yakindu.org/sct/mars/releases/</a:t>
            </a:r>
            <a:endParaRPr lang="en-US" sz="2400" u="none" strike="noStrike" dirty="0" smtClean="0">
              <a:effectLst/>
            </a:endParaRPr>
          </a:p>
          <a:p>
            <a:pPr algn="l"/>
            <a:r>
              <a:rPr lang="es-AR" dirty="0" smtClean="0"/>
              <a:t>4) Usando la línea de comandos (</a:t>
            </a:r>
            <a:r>
              <a:rPr lang="es-AR" dirty="0" err="1" smtClean="0"/>
              <a:t>Git</a:t>
            </a:r>
            <a:r>
              <a:rPr lang="es-AR" dirty="0" smtClean="0"/>
              <a:t> </a:t>
            </a:r>
            <a:r>
              <a:rPr lang="es-AR" dirty="0" err="1" smtClean="0"/>
              <a:t>Bash</a:t>
            </a:r>
            <a:r>
              <a:rPr lang="es-AR" dirty="0" smtClean="0"/>
              <a:t> en Windows), clone el repositorio de trabajo:</a:t>
            </a:r>
          </a:p>
          <a:p>
            <a:pPr algn="l"/>
            <a:r>
              <a:rPr lang="en-US" dirty="0" err="1" smtClean="0"/>
              <a:t>git</a:t>
            </a:r>
            <a:r>
              <a:rPr lang="en-US" dirty="0" smtClean="0"/>
              <a:t> clone </a:t>
            </a:r>
            <a:r>
              <a:rPr lang="en-US" u="sng" dirty="0" smtClean="0">
                <a:solidFill>
                  <a:srgbClr val="FF0000"/>
                </a:solidFill>
              </a:rPr>
              <a:t> https://gitlab.com/esalarcon/td2-r4051-2019-ejemplos.git  </a:t>
            </a:r>
            <a:r>
              <a:rPr lang="en-US" dirty="0" smtClean="0"/>
              <a:t>firmware</a:t>
            </a:r>
            <a:endParaRPr lang="es-AR" dirty="0" smtClean="0"/>
          </a:p>
          <a:p>
            <a:pPr lvl="1" algn="l"/>
            <a:r>
              <a:rPr lang="en-US" sz="2400" u="none" strike="noStrike" dirty="0" smtClean="0">
                <a:effectLst/>
              </a:rPr>
              <a:t> </a:t>
            </a:r>
            <a:endParaRPr lang="es-AR" sz="2400" u="none" strike="noStrike" dirty="0" smtClean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89000" y="406399"/>
            <a:ext cx="10172700" cy="5576389"/>
          </a:xfrm>
        </p:spPr>
        <p:txBody>
          <a:bodyPr>
            <a:noAutofit/>
          </a:bodyPr>
          <a:lstStyle/>
          <a:p>
            <a:pPr algn="l"/>
            <a:r>
              <a:rPr lang="es-AR" sz="3200" b="1" dirty="0" smtClean="0"/>
              <a:t>Prólogo: Puesta a punto del Entorno de Desarrollo (3)</a:t>
            </a:r>
          </a:p>
          <a:p>
            <a:pPr lvl="0" algn="l"/>
            <a:endParaRPr lang="es-AR" u="none" strike="noStrike" dirty="0" smtClean="0">
              <a:effectLst/>
            </a:endParaRPr>
          </a:p>
          <a:p>
            <a:pPr lvl="0" algn="l"/>
            <a:r>
              <a:rPr lang="en-US" u="none" strike="noStrike" dirty="0" err="1" smtClean="0">
                <a:effectLst/>
              </a:rPr>
              <a:t>Importe</a:t>
            </a:r>
            <a:r>
              <a:rPr lang="en-US" u="none" strike="noStrike" dirty="0" smtClean="0">
                <a:effectLst/>
              </a:rPr>
              <a:t> la </a:t>
            </a:r>
            <a:r>
              <a:rPr lang="en-US" u="none" strike="noStrike" dirty="0" err="1" smtClean="0">
                <a:effectLst/>
              </a:rPr>
              <a:t>carpeta</a:t>
            </a:r>
            <a:r>
              <a:rPr lang="en-US" u="none" strike="noStrike" dirty="0" smtClean="0">
                <a:effectLst/>
              </a:rPr>
              <a:t> </a:t>
            </a:r>
            <a:r>
              <a:rPr lang="en-US" dirty="0" smtClean="0"/>
              <a:t>firmware </a:t>
            </a:r>
            <a:r>
              <a:rPr lang="en-US" u="none" strike="noStrike" dirty="0" smtClean="0">
                <a:effectLst/>
              </a:rPr>
              <a:t>en </a:t>
            </a:r>
            <a:r>
              <a:rPr lang="en-US" u="none" strike="noStrike" dirty="0" err="1" smtClean="0">
                <a:effectLst/>
              </a:rPr>
              <a:t>LPCXpresso</a:t>
            </a:r>
            <a:r>
              <a:rPr lang="en-US" u="none" strike="noStrike" dirty="0" smtClean="0">
                <a:effectLst/>
              </a:rPr>
              <a:t> </a:t>
            </a:r>
            <a:r>
              <a:rPr lang="en-US" u="none" strike="noStrike" dirty="0" err="1" smtClean="0">
                <a:effectLst/>
              </a:rPr>
              <a:t>usando</a:t>
            </a:r>
            <a:r>
              <a:rPr lang="en-US" u="none" strike="noStrike" dirty="0" smtClean="0">
                <a:effectLst/>
              </a:rPr>
              <a:t> el </a:t>
            </a:r>
            <a:r>
              <a:rPr lang="en-US" u="none" strike="noStrike" dirty="0" err="1" smtClean="0">
                <a:effectLst/>
              </a:rPr>
              <a:t>menú</a:t>
            </a:r>
            <a:r>
              <a:rPr lang="en-US" dirty="0"/>
              <a:t> File → </a:t>
            </a:r>
            <a:r>
              <a:rPr lang="en-US" dirty="0" smtClean="0"/>
              <a:t>import projects from folder</a:t>
            </a:r>
            <a:r>
              <a:rPr lang="es-AR" dirty="0" smtClean="0"/>
              <a:t>, </a:t>
            </a:r>
            <a:r>
              <a:rPr lang="es-AR" sz="2400" u="none" strike="noStrike" dirty="0" smtClean="0">
                <a:effectLst/>
              </a:rPr>
              <a:t>navegue a la carpeta </a:t>
            </a:r>
            <a:r>
              <a:rPr lang="es-AR" sz="2400" dirty="0" smtClean="0"/>
              <a:t>firmware </a:t>
            </a:r>
            <a:r>
              <a:rPr lang="es-AR" sz="2400" u="none" strike="noStrike" dirty="0" smtClean="0">
                <a:effectLst/>
              </a:rPr>
              <a:t>que clonó en el paso anterior. Si no eligió ninguna ubicación en particular, por defecto debería encontrarla en el directorio del usuario (</a:t>
            </a:r>
            <a:r>
              <a:rPr lang="es-AR" sz="2400" dirty="0"/>
              <a:t>/home/usuario</a:t>
            </a:r>
            <a:r>
              <a:rPr lang="es-AR" sz="2400" u="none" strike="noStrike" dirty="0" smtClean="0">
                <a:effectLst/>
              </a:rPr>
              <a:t> o </a:t>
            </a:r>
            <a:r>
              <a:rPr lang="es-AR" sz="2400" dirty="0"/>
              <a:t>C:\Users\usuario</a:t>
            </a:r>
            <a:r>
              <a:rPr lang="es-AR" sz="2400" u="none" strike="noStrike" dirty="0" smtClean="0">
                <a:effectLst/>
              </a:rPr>
              <a:t>).</a:t>
            </a:r>
          </a:p>
          <a:p>
            <a:pPr lvl="0" algn="l"/>
            <a:r>
              <a:rPr lang="es-AR" u="none" strike="noStrike" dirty="0" smtClean="0">
                <a:effectLst/>
              </a:rPr>
              <a:t>Haga clic en la carpeta </a:t>
            </a:r>
            <a:r>
              <a:rPr lang="es-AR" u="none" strike="noStrike" dirty="0" err="1" smtClean="0">
                <a:effectLst/>
              </a:rPr>
              <a:t>pruebaasm</a:t>
            </a:r>
            <a:r>
              <a:rPr lang="es-AR" u="none" strike="noStrike" dirty="0" smtClean="0">
                <a:effectLst/>
              </a:rPr>
              <a:t> y a continuación en </a:t>
            </a:r>
            <a:r>
              <a:rPr lang="es-AR" dirty="0" err="1" smtClean="0"/>
              <a:t>Build</a:t>
            </a:r>
            <a:r>
              <a:rPr lang="es-AR" dirty="0" smtClean="0"/>
              <a:t> ‘</a:t>
            </a:r>
            <a:r>
              <a:rPr lang="es-AR" dirty="0" err="1" smtClean="0"/>
              <a:t>pruebaasm</a:t>
            </a:r>
            <a:r>
              <a:rPr lang="es-AR" dirty="0" smtClean="0"/>
              <a:t>’ [</a:t>
            </a:r>
            <a:r>
              <a:rPr lang="es-AR" dirty="0" err="1" smtClean="0"/>
              <a:t>Debug</a:t>
            </a:r>
            <a:r>
              <a:rPr lang="es-AR" dirty="0" smtClean="0"/>
              <a:t>]</a:t>
            </a:r>
            <a:r>
              <a:rPr lang="es-AR" u="none" strike="noStrike" dirty="0" smtClean="0">
                <a:effectLst/>
              </a:rPr>
              <a:t>. Debería observar el proceso de compilación que finalizará con una salida de consola similar a la siguiente (el directorio de salida varía según el </a:t>
            </a:r>
            <a:r>
              <a:rPr lang="es-AR" u="none" strike="noStrike" dirty="0" err="1" smtClean="0">
                <a:effectLst/>
              </a:rPr>
              <a:t>microcontrolador</a:t>
            </a:r>
            <a:r>
              <a:rPr lang="es-AR" u="none" strike="noStrike" dirty="0" smtClean="0">
                <a:effectLst/>
              </a:rPr>
              <a:t> elegido):</a:t>
            </a:r>
          </a:p>
          <a:p>
            <a:pPr algn="l"/>
            <a:r>
              <a:rPr lang="en-US" dirty="0" smtClean="0"/>
              <a:t>*** linking project </a:t>
            </a:r>
            <a:r>
              <a:rPr lang="en-US" dirty="0" err="1" smtClean="0"/>
              <a:t>pruebaasm</a:t>
            </a:r>
            <a:r>
              <a:rPr lang="en-US" dirty="0" smtClean="0"/>
              <a:t> ***</a:t>
            </a:r>
            <a:endParaRPr lang="es-AR" dirty="0" smtClean="0"/>
          </a:p>
          <a:p>
            <a:pPr algn="l"/>
            <a:r>
              <a:rPr lang="en-US" dirty="0" smtClean="0"/>
              <a:t>text	data	    </a:t>
            </a:r>
            <a:r>
              <a:rPr lang="en-US" dirty="0" err="1" smtClean="0"/>
              <a:t>bss</a:t>
            </a:r>
            <a:r>
              <a:rPr lang="en-US" dirty="0" smtClean="0"/>
              <a:t>	    </a:t>
            </a:r>
            <a:r>
              <a:rPr lang="en-US" dirty="0" err="1" smtClean="0"/>
              <a:t>dec</a:t>
            </a:r>
            <a:r>
              <a:rPr lang="en-US" dirty="0" smtClean="0"/>
              <a:t>	    hex		filename</a:t>
            </a:r>
            <a:endParaRPr lang="es-AR" dirty="0" smtClean="0"/>
          </a:p>
          <a:p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89000" y="406400"/>
            <a:ext cx="10172700" cy="3073400"/>
          </a:xfrm>
        </p:spPr>
        <p:txBody>
          <a:bodyPr>
            <a:noAutofit/>
          </a:bodyPr>
          <a:lstStyle/>
          <a:p>
            <a:pPr algn="l"/>
            <a:r>
              <a:rPr lang="es-AR" sz="3200" b="1" dirty="0"/>
              <a:t>TP 0 - </a:t>
            </a:r>
            <a:r>
              <a:rPr lang="es-AR" sz="3200" b="1" dirty="0" smtClean="0"/>
              <a:t>Anteproyecto </a:t>
            </a:r>
            <a:r>
              <a:rPr lang="es-AR" sz="3200" b="1" dirty="0"/>
              <a:t>- Entrega Obligatoria</a:t>
            </a:r>
          </a:p>
          <a:p>
            <a:pPr algn="l"/>
            <a:r>
              <a:rPr lang="es-AR" i="1" dirty="0"/>
              <a:t>Este TP debe entregarse </a:t>
            </a:r>
            <a:r>
              <a:rPr lang="es-AR" i="1" dirty="0" smtClean="0"/>
              <a:t>el 10/4/2019 y debe cerrarse el 8/5/2019.</a:t>
            </a:r>
            <a:endParaRPr lang="es-AR" dirty="0"/>
          </a:p>
          <a:p>
            <a:pPr algn="l"/>
            <a:r>
              <a:rPr lang="es-AR" dirty="0"/>
              <a:t>Defina los requerimientos funcionales del trabajo final de la cátedra a entregarse durante </a:t>
            </a:r>
            <a:r>
              <a:rPr lang="es-AR" dirty="0" smtClean="0"/>
              <a:t>el mes de diciembre del </a:t>
            </a:r>
            <a:r>
              <a:rPr lang="es-AR" dirty="0"/>
              <a:t>presente ciclo lectivo. El documento deberá contener las siguientes secciones:</a:t>
            </a:r>
          </a:p>
          <a:p>
            <a:pPr lvl="0" algn="l"/>
            <a:r>
              <a:rPr lang="es-AR" u="none" strike="noStrike" dirty="0" smtClean="0">
                <a:effectLst/>
              </a:rPr>
              <a:t>	Nombre del proyecto.</a:t>
            </a:r>
          </a:p>
          <a:p>
            <a:pPr lvl="0" algn="l"/>
            <a:r>
              <a:rPr lang="es-AR" u="none" strike="noStrike" dirty="0" smtClean="0">
                <a:effectLst/>
              </a:rPr>
              <a:t>	Datos de los integrantes del equipo de trabajo: Nombre completo y 	email. </a:t>
            </a:r>
            <a:br>
              <a:rPr lang="es-AR" u="none" strike="noStrike" dirty="0" smtClean="0">
                <a:effectLst/>
              </a:rPr>
            </a:br>
            <a:r>
              <a:rPr lang="es-AR" u="none" strike="noStrike" dirty="0" smtClean="0">
                <a:effectLst/>
              </a:rPr>
              <a:t>	</a:t>
            </a:r>
            <a:r>
              <a:rPr lang="es-AR" i="1" dirty="0" smtClean="0"/>
              <a:t>C</a:t>
            </a:r>
            <a:r>
              <a:rPr lang="es-AR" i="1" u="none" strike="noStrike" dirty="0" smtClean="0">
                <a:effectLst/>
              </a:rPr>
              <a:t>uatro personas por equipo de trabajo.</a:t>
            </a:r>
            <a:endParaRPr lang="es-AR" u="none" strike="noStrike" dirty="0" smtClean="0">
              <a:effectLst/>
            </a:endParaRPr>
          </a:p>
          <a:p>
            <a:pPr lvl="0" algn="l"/>
            <a:r>
              <a:rPr lang="es-AR" u="none" strike="noStrike" dirty="0" smtClean="0">
                <a:effectLst/>
              </a:rPr>
              <a:t>	Texto introductorio incluyendo descripción de necesidad (no más de 50 	líneas).</a:t>
            </a:r>
          </a:p>
          <a:p>
            <a:pPr lvl="0" algn="l"/>
            <a:r>
              <a:rPr lang="es-AR" u="none" strike="noStrike" dirty="0" smtClean="0">
                <a:effectLst/>
              </a:rPr>
              <a:t>	Tabla de requerimientos funcionales.</a:t>
            </a:r>
          </a:p>
          <a:p>
            <a:pPr lvl="0" algn="l"/>
            <a:r>
              <a:rPr lang="es-AR" u="none" strike="noStrike" dirty="0" smtClean="0">
                <a:effectLst/>
              </a:rPr>
              <a:t>	Diagrama en bloques genérico.</a:t>
            </a:r>
          </a:p>
          <a:p>
            <a:pPr algn="l"/>
            <a:r>
              <a:rPr lang="es-AR" dirty="0" smtClean="0"/>
              <a:t>Se </a:t>
            </a:r>
            <a:r>
              <a:rPr lang="es-AR" dirty="0"/>
              <a:t>sugiere que dicho documento no se extienda por más de 3 carillas A4. </a:t>
            </a:r>
          </a:p>
          <a:p>
            <a:pPr algn="l"/>
            <a:endParaRPr lang="es-AR" dirty="0"/>
          </a:p>
          <a:p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89000" y="406400"/>
            <a:ext cx="10172700" cy="3073400"/>
          </a:xfrm>
        </p:spPr>
        <p:txBody>
          <a:bodyPr>
            <a:noAutofit/>
          </a:bodyPr>
          <a:lstStyle/>
          <a:p>
            <a:pPr algn="l"/>
            <a:r>
              <a:rPr lang="es-AR" b="1" dirty="0"/>
              <a:t>TP 1 - Control de versiones y sintaxis - Entrega Obligatoria</a:t>
            </a:r>
          </a:p>
          <a:p>
            <a:pPr lvl="0" algn="l"/>
            <a:r>
              <a:rPr lang="es-AR" sz="2000" u="none" strike="noStrike" dirty="0" smtClean="0">
                <a:effectLst/>
              </a:rPr>
              <a:t>Cree una cuenta en </a:t>
            </a:r>
            <a:r>
              <a:rPr lang="es-AR" sz="2000" dirty="0">
                <a:hlinkClick r:id="rId2"/>
              </a:rPr>
              <a:t>www.gitlab.com</a:t>
            </a:r>
            <a:r>
              <a:rPr lang="es-AR" sz="2000" u="none" strike="noStrike" dirty="0" smtClean="0">
                <a:effectLst/>
              </a:rPr>
              <a:t> si no dispone de una. Agregue su usuario y el de sus compañeros al </a:t>
            </a:r>
            <a:r>
              <a:rPr lang="es-AR" sz="2000" i="1" u="none" strike="noStrike" dirty="0" err="1" smtClean="0">
                <a:effectLst/>
              </a:rPr>
              <a:t>team</a:t>
            </a:r>
            <a:r>
              <a:rPr lang="es-AR" sz="2000" u="none" strike="noStrike" dirty="0" smtClean="0">
                <a:effectLst/>
              </a:rPr>
              <a:t> de </a:t>
            </a:r>
            <a:r>
              <a:rPr lang="es-AR" sz="2000" u="none" strike="noStrike" dirty="0" err="1" smtClean="0">
                <a:effectLst/>
              </a:rPr>
              <a:t>GitLab</a:t>
            </a:r>
            <a:r>
              <a:rPr lang="es-AR" sz="2000" u="none" strike="noStrike" dirty="0" smtClean="0">
                <a:effectLst/>
              </a:rPr>
              <a:t> correspondiente a su grupo.</a:t>
            </a:r>
          </a:p>
          <a:p>
            <a:pPr lvl="0" algn="l"/>
            <a:r>
              <a:rPr lang="es-AR" sz="2000" u="none" strike="noStrike" dirty="0" smtClean="0">
                <a:effectLst/>
              </a:rPr>
              <a:t>En el entorno del grupo, cree un repositorio denominado tp1. La URL del mismo será parecida a </a:t>
            </a:r>
            <a:r>
              <a:rPr lang="es-AR" sz="2000" dirty="0">
                <a:hlinkClick r:id="rId3"/>
              </a:rPr>
              <a:t>www.gitlab.com/team_name/tp1.git</a:t>
            </a:r>
            <a:r>
              <a:rPr lang="es-AR" sz="2000" u="none" strike="noStrike" dirty="0" smtClean="0">
                <a:effectLst/>
              </a:rPr>
              <a:t> </a:t>
            </a:r>
          </a:p>
          <a:p>
            <a:pPr lvl="0" algn="l"/>
            <a:r>
              <a:rPr lang="es-AR" sz="2000" u="none" strike="noStrike" dirty="0" smtClean="0">
                <a:effectLst/>
              </a:rPr>
              <a:t>Realice un </a:t>
            </a:r>
            <a:r>
              <a:rPr lang="es-AR" sz="2000" u="none" strike="noStrike" dirty="0" err="1" smtClean="0">
                <a:effectLst/>
              </a:rPr>
              <a:t>commit</a:t>
            </a:r>
            <a:r>
              <a:rPr lang="es-AR" sz="2000" u="none" strike="noStrike" dirty="0" smtClean="0">
                <a:effectLst/>
              </a:rPr>
              <a:t>/</a:t>
            </a:r>
            <a:r>
              <a:rPr lang="es-AR" sz="2000" u="none" strike="noStrike" dirty="0" err="1" smtClean="0">
                <a:effectLst/>
              </a:rPr>
              <a:t>push</a:t>
            </a:r>
            <a:r>
              <a:rPr lang="es-AR" sz="2000" u="none" strike="noStrike" dirty="0" smtClean="0">
                <a:effectLst/>
              </a:rPr>
              <a:t> inicial del código actual. Usando la línea de comandos:</a:t>
            </a:r>
          </a:p>
          <a:p>
            <a:pPr algn="l"/>
            <a:r>
              <a:rPr lang="en-US" sz="2000" dirty="0" smtClean="0"/>
              <a:t>	</a:t>
            </a:r>
            <a:r>
              <a:rPr lang="en-US" sz="2000" dirty="0" err="1" smtClean="0"/>
              <a:t>cd</a:t>
            </a:r>
            <a:r>
              <a:rPr lang="en-US" sz="2000" dirty="0" smtClean="0"/>
              <a:t> path/a/firmware/</a:t>
            </a:r>
            <a:r>
              <a:rPr lang="en-US" sz="2000" dirty="0" err="1" smtClean="0"/>
              <a:t>pruebaasm</a:t>
            </a:r>
            <a:endParaRPr lang="es-AR" sz="2000" dirty="0"/>
          </a:p>
          <a:p>
            <a:pPr algn="l"/>
            <a:r>
              <a:rPr lang="en-US" sz="2000" dirty="0" smtClean="0"/>
              <a:t>	</a:t>
            </a:r>
            <a:r>
              <a:rPr lang="en-US" sz="2000" dirty="0" err="1" smtClean="0"/>
              <a:t>git</a:t>
            </a:r>
            <a:r>
              <a:rPr lang="en-US" sz="2000" dirty="0" smtClean="0"/>
              <a:t> </a:t>
            </a:r>
            <a:r>
              <a:rPr lang="en-US" sz="2000" dirty="0" err="1"/>
              <a:t>init</a:t>
            </a:r>
            <a:endParaRPr lang="es-AR" sz="2000" dirty="0"/>
          </a:p>
          <a:p>
            <a:pPr algn="l"/>
            <a:r>
              <a:rPr lang="en-US" sz="2000" dirty="0" smtClean="0"/>
              <a:t>	</a:t>
            </a:r>
            <a:r>
              <a:rPr lang="en-US" sz="2000" dirty="0" err="1" smtClean="0"/>
              <a:t>git</a:t>
            </a:r>
            <a:r>
              <a:rPr lang="en-US" sz="2000" dirty="0" smtClean="0"/>
              <a:t> </a:t>
            </a:r>
            <a:r>
              <a:rPr lang="en-US" sz="2000" dirty="0"/>
              <a:t>remote add origin [</a:t>
            </a:r>
            <a:r>
              <a:rPr lang="en-US" sz="2000" dirty="0" err="1"/>
              <a:t>url</a:t>
            </a:r>
            <a:r>
              <a:rPr lang="en-US" sz="2000" dirty="0"/>
              <a:t> del </a:t>
            </a:r>
            <a:r>
              <a:rPr lang="en-US" sz="2000" dirty="0" err="1"/>
              <a:t>repositorio</a:t>
            </a:r>
            <a:r>
              <a:rPr lang="en-US" sz="2000" dirty="0"/>
              <a:t>]</a:t>
            </a:r>
            <a:endParaRPr lang="es-AR" sz="2000" dirty="0"/>
          </a:p>
          <a:p>
            <a:pPr algn="l"/>
            <a:r>
              <a:rPr lang="es-AR" sz="2000" dirty="0" smtClean="0"/>
              <a:t>	</a:t>
            </a:r>
            <a:r>
              <a:rPr lang="es-AR" sz="2000" dirty="0" err="1" smtClean="0"/>
              <a:t>git</a:t>
            </a:r>
            <a:r>
              <a:rPr lang="es-AR" sz="2000" dirty="0" smtClean="0"/>
              <a:t> </a:t>
            </a:r>
            <a:r>
              <a:rPr lang="es-AR" sz="2000" dirty="0"/>
              <a:t>status #muestra el estado actual del repositorio</a:t>
            </a:r>
          </a:p>
          <a:p>
            <a:pPr algn="l"/>
            <a:r>
              <a:rPr lang="en-US" sz="2000" dirty="0" smtClean="0"/>
              <a:t>	</a:t>
            </a:r>
            <a:r>
              <a:rPr lang="en-US" sz="2000" dirty="0" err="1" smtClean="0"/>
              <a:t>git</a:t>
            </a:r>
            <a:r>
              <a:rPr lang="en-US" sz="2000" dirty="0" smtClean="0"/>
              <a:t> </a:t>
            </a:r>
            <a:r>
              <a:rPr lang="en-US" sz="2000" dirty="0"/>
              <a:t>add --all </a:t>
            </a:r>
            <a:endParaRPr lang="es-AR" sz="2000" dirty="0"/>
          </a:p>
          <a:p>
            <a:pPr algn="l"/>
            <a:r>
              <a:rPr lang="en-US" sz="2000" dirty="0" smtClean="0"/>
              <a:t>	</a:t>
            </a:r>
            <a:r>
              <a:rPr lang="en-US" sz="2000" dirty="0" err="1" smtClean="0"/>
              <a:t>git</a:t>
            </a:r>
            <a:r>
              <a:rPr lang="en-US" sz="2000" dirty="0" smtClean="0"/>
              <a:t> </a:t>
            </a:r>
            <a:r>
              <a:rPr lang="en-US" sz="2000" dirty="0"/>
              <a:t>status</a:t>
            </a:r>
            <a:endParaRPr lang="es-AR" sz="2000" dirty="0"/>
          </a:p>
          <a:p>
            <a:pPr algn="l"/>
            <a:r>
              <a:rPr lang="en-US" sz="2000" dirty="0" smtClean="0"/>
              <a:t>	</a:t>
            </a:r>
            <a:r>
              <a:rPr lang="en-US" sz="2000" dirty="0" err="1" smtClean="0"/>
              <a:t>git</a:t>
            </a:r>
            <a:r>
              <a:rPr lang="en-US" sz="2000" dirty="0" smtClean="0"/>
              <a:t> </a:t>
            </a:r>
            <a:r>
              <a:rPr lang="en-US" sz="2000" dirty="0"/>
              <a:t>commit -</a:t>
            </a:r>
            <a:r>
              <a:rPr lang="en-US" sz="2000" dirty="0" err="1"/>
              <a:t>m”commit</a:t>
            </a:r>
            <a:r>
              <a:rPr lang="en-US" sz="2000" dirty="0"/>
              <a:t> </a:t>
            </a:r>
            <a:r>
              <a:rPr lang="en-US" sz="2000" dirty="0" err="1"/>
              <a:t>inicial</a:t>
            </a:r>
            <a:r>
              <a:rPr lang="en-US" sz="2000" dirty="0"/>
              <a:t>”</a:t>
            </a:r>
            <a:endParaRPr lang="es-AR" sz="2000" dirty="0"/>
          </a:p>
          <a:p>
            <a:pPr algn="l"/>
            <a:r>
              <a:rPr lang="es-AR" sz="2000" dirty="0" smtClean="0"/>
              <a:t>	</a:t>
            </a:r>
            <a:r>
              <a:rPr lang="es-AR" sz="2000" dirty="0" err="1" smtClean="0"/>
              <a:t>git</a:t>
            </a:r>
            <a:r>
              <a:rPr lang="es-AR" sz="2000" dirty="0" smtClean="0"/>
              <a:t> </a:t>
            </a:r>
            <a:r>
              <a:rPr lang="es-AR" sz="2000" dirty="0" err="1"/>
              <a:t>push</a:t>
            </a:r>
            <a:r>
              <a:rPr lang="es-AR" sz="2000" dirty="0"/>
              <a:t> -u </a:t>
            </a:r>
            <a:r>
              <a:rPr lang="es-AR" sz="2000" dirty="0" err="1"/>
              <a:t>origin</a:t>
            </a:r>
            <a:r>
              <a:rPr lang="es-AR" sz="2000" dirty="0"/>
              <a:t> </a:t>
            </a:r>
            <a:r>
              <a:rPr lang="es-AR" sz="2000" dirty="0" smtClean="0"/>
              <a:t>master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89000" y="406400"/>
            <a:ext cx="10172700" cy="3073400"/>
          </a:xfrm>
        </p:spPr>
        <p:txBody>
          <a:bodyPr>
            <a:noAutofit/>
          </a:bodyPr>
          <a:lstStyle/>
          <a:p>
            <a:pPr algn="l"/>
            <a:r>
              <a:rPr lang="es-AR" b="1" dirty="0"/>
              <a:t>TP 1 - Control de versiones y sintaxis - Entrega Obligatoria</a:t>
            </a:r>
          </a:p>
          <a:p>
            <a:pPr lvl="0" algn="l"/>
            <a:r>
              <a:rPr lang="es-AR" sz="2000" u="none" strike="noStrike" dirty="0" smtClean="0">
                <a:effectLst/>
              </a:rPr>
              <a:t>Realice un </a:t>
            </a:r>
            <a:r>
              <a:rPr lang="es-AR" sz="2000" u="none" strike="noStrike" dirty="0" err="1" smtClean="0">
                <a:effectLst/>
              </a:rPr>
              <a:t>commit</a:t>
            </a:r>
            <a:r>
              <a:rPr lang="es-AR" sz="2000" u="none" strike="noStrike" dirty="0" smtClean="0">
                <a:effectLst/>
              </a:rPr>
              <a:t>/</a:t>
            </a:r>
            <a:r>
              <a:rPr lang="es-AR" sz="2000" u="none" strike="noStrike" dirty="0" err="1" smtClean="0">
                <a:effectLst/>
              </a:rPr>
              <a:t>push</a:t>
            </a:r>
            <a:r>
              <a:rPr lang="es-AR" sz="2000" u="none" strike="noStrike" dirty="0" smtClean="0">
                <a:effectLst/>
              </a:rPr>
              <a:t> inicial del código actual. Usando </a:t>
            </a:r>
            <a:r>
              <a:rPr lang="es-AR" sz="2000" dirty="0" err="1" smtClean="0"/>
              <a:t>SmartGit</a:t>
            </a:r>
            <a:r>
              <a:rPr lang="es-AR" sz="2000" dirty="0"/>
              <a:t>.</a:t>
            </a:r>
            <a:endParaRPr lang="es-AR" sz="2000" u="none" strike="noStrike" dirty="0" smtClean="0">
              <a:effectLst/>
            </a:endParaRPr>
          </a:p>
          <a:p>
            <a:pPr lvl="0" algn="l"/>
            <a:r>
              <a:rPr lang="es-AR" sz="2000" dirty="0" smtClean="0"/>
              <a:t>Cree </a:t>
            </a:r>
            <a:r>
              <a:rPr lang="es-AR" sz="2000" dirty="0"/>
              <a:t>una cuenta en </a:t>
            </a:r>
            <a:r>
              <a:rPr lang="es-AR" sz="2000" dirty="0">
                <a:hlinkClick r:id="rId2"/>
              </a:rPr>
              <a:t>www.gitlab.com</a:t>
            </a:r>
            <a:r>
              <a:rPr lang="es-AR" sz="2000" dirty="0"/>
              <a:t> si no dispone de una. Agregue su usuario y el de sus compañeros al </a:t>
            </a:r>
            <a:r>
              <a:rPr lang="es-AR" sz="2000" i="1" dirty="0" err="1"/>
              <a:t>team</a:t>
            </a:r>
            <a:r>
              <a:rPr lang="es-AR" sz="2000" dirty="0"/>
              <a:t> de </a:t>
            </a:r>
            <a:r>
              <a:rPr lang="es-AR" sz="2000" dirty="0" err="1"/>
              <a:t>GitLab</a:t>
            </a:r>
            <a:r>
              <a:rPr lang="es-AR" sz="2000" dirty="0"/>
              <a:t> correspondiente a su </a:t>
            </a:r>
            <a:r>
              <a:rPr lang="es-AR" sz="2000" dirty="0" smtClean="0"/>
              <a:t>grupo.</a:t>
            </a:r>
            <a:endParaRPr lang="es-AR" sz="2000" dirty="0"/>
          </a:p>
          <a:p>
            <a:pPr lvl="0" algn="l"/>
            <a:r>
              <a:rPr lang="es-AR" sz="2000" dirty="0"/>
              <a:t>En el entorno del grupo, cree un repositorio denominado tp1. La URL del mismo será parecida a </a:t>
            </a:r>
            <a:r>
              <a:rPr lang="es-AR" sz="2000" dirty="0" smtClean="0">
                <a:hlinkClick r:id="rId3"/>
              </a:rPr>
              <a:t>www.gitlab.com/</a:t>
            </a:r>
            <a:r>
              <a:rPr lang="en-US" sz="2000" dirty="0">
                <a:hlinkClick r:id="rId4"/>
              </a:rPr>
              <a:t>TDII_R4051_GrupoX</a:t>
            </a:r>
            <a:r>
              <a:rPr lang="es-AR" sz="2000" dirty="0" smtClean="0">
                <a:hlinkClick r:id="rId3"/>
              </a:rPr>
              <a:t>/tp1.git</a:t>
            </a:r>
            <a:r>
              <a:rPr lang="es-AR" sz="2000" dirty="0" smtClean="0"/>
              <a:t> </a:t>
            </a:r>
          </a:p>
          <a:p>
            <a:pPr lvl="0" algn="l"/>
            <a:endParaRPr lang="es-AR" sz="2000" dirty="0" smtClean="0"/>
          </a:p>
          <a:p>
            <a:pPr lvl="0" algn="l"/>
            <a:r>
              <a:rPr lang="es-AR" sz="2000" dirty="0" smtClean="0"/>
              <a:t>Instalar </a:t>
            </a:r>
            <a:r>
              <a:rPr lang="es-AR" sz="2000" dirty="0" err="1" smtClean="0"/>
              <a:t>Smartgit</a:t>
            </a:r>
            <a:r>
              <a:rPr lang="es-AR" sz="2000" dirty="0" smtClean="0"/>
              <a:t>:</a:t>
            </a:r>
          </a:p>
          <a:p>
            <a:pPr lvl="0" algn="l"/>
            <a:r>
              <a:rPr lang="es-AR" sz="2000" dirty="0" smtClean="0">
                <a:hlinkClick r:id="rId5"/>
              </a:rPr>
              <a:t>http://www.syntevo.com/smartgit/download?file=smartgit/smartgit-win32-setup-jre-17_0_3.zip</a:t>
            </a:r>
            <a:endParaRPr lang="es-AR" sz="2000" dirty="0" smtClean="0"/>
          </a:p>
          <a:p>
            <a:pPr lvl="0" algn="l"/>
            <a:endParaRPr lang="es-AR" sz="2000" dirty="0"/>
          </a:p>
          <a:p>
            <a:pPr algn="l"/>
            <a:r>
              <a:rPr lang="en-US" sz="2000" dirty="0" smtClean="0"/>
              <a:t>	remote add     </a:t>
            </a:r>
            <a:r>
              <a:rPr lang="en-US" sz="2000" dirty="0" smtClean="0">
                <a:hlinkClick r:id="rId4"/>
              </a:rPr>
              <a:t>https</a:t>
            </a:r>
            <a:r>
              <a:rPr lang="en-US" sz="2000" dirty="0">
                <a:hlinkClick r:id="rId4"/>
              </a:rPr>
              <a:t>://</a:t>
            </a:r>
            <a:r>
              <a:rPr lang="en-US" sz="2000" dirty="0" smtClean="0">
                <a:hlinkClick r:id="rId4"/>
              </a:rPr>
              <a:t>gitlab.com/TDII_R4051_GrupoX/tp1.git</a:t>
            </a:r>
            <a:endParaRPr lang="en-US" sz="2000" dirty="0" smtClean="0"/>
          </a:p>
          <a:p>
            <a:pPr algn="l"/>
            <a:r>
              <a:rPr lang="en-US" sz="2000" dirty="0"/>
              <a:t>	</a:t>
            </a:r>
            <a:r>
              <a:rPr lang="en-US" sz="2000" dirty="0" smtClean="0"/>
              <a:t>remote push   </a:t>
            </a:r>
            <a:r>
              <a:rPr lang="en-US" sz="2000" dirty="0" smtClean="0">
                <a:hlinkClick r:id="rId4"/>
              </a:rPr>
              <a:t>https</a:t>
            </a:r>
            <a:r>
              <a:rPr lang="en-US" sz="2000" dirty="0">
                <a:hlinkClick r:id="rId4"/>
              </a:rPr>
              <a:t>://</a:t>
            </a:r>
            <a:r>
              <a:rPr lang="en-US" sz="2000" dirty="0" smtClean="0">
                <a:hlinkClick r:id="rId4"/>
              </a:rPr>
              <a:t>gitlab.com/TDII_R4051_GrupoX/tp1.git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89000" y="406400"/>
            <a:ext cx="10172700" cy="3073400"/>
          </a:xfrm>
        </p:spPr>
        <p:txBody>
          <a:bodyPr>
            <a:noAutofit/>
          </a:bodyPr>
          <a:lstStyle/>
          <a:p>
            <a:pPr algn="l"/>
            <a:r>
              <a:rPr lang="es-AR" b="1" dirty="0"/>
              <a:t>TP 1 - Control de versiones y sintaxis - Entrega Obligatoria</a:t>
            </a:r>
          </a:p>
          <a:p>
            <a:pPr lvl="0" algn="l"/>
            <a:r>
              <a:rPr lang="es-AR" u="none" strike="noStrike" dirty="0" smtClean="0">
                <a:effectLst/>
              </a:rPr>
              <a:t>Agregue más funcionalidad al código: por ejemplo, que la frecuencia de parpadeo del LED aumente cada 5 segundos hasta 10Hz y comience nuevamente desde 1Hz.</a:t>
            </a:r>
          </a:p>
          <a:p>
            <a:pPr lvl="0" algn="l"/>
            <a:r>
              <a:rPr lang="es-AR" u="none" strike="noStrike" dirty="0" smtClean="0">
                <a:effectLst/>
              </a:rPr>
              <a:t>Verifique la sintaxis y el estilo de codificación de dicho programa según reglas de codificación típicas. Realice uno o más </a:t>
            </a:r>
            <a:r>
              <a:rPr lang="es-AR" u="none" strike="noStrike" dirty="0" err="1" smtClean="0">
                <a:effectLst/>
              </a:rPr>
              <a:t>commits</a:t>
            </a:r>
            <a:r>
              <a:rPr lang="es-AR" u="none" strike="noStrike" dirty="0" smtClean="0">
                <a:effectLst/>
              </a:rPr>
              <a:t> indicando las correcciones realizadas.</a:t>
            </a:r>
          </a:p>
          <a:p>
            <a:pPr lvl="0" algn="l"/>
            <a:r>
              <a:rPr lang="es-AR" u="none" strike="noStrike" dirty="0" smtClean="0">
                <a:effectLst/>
              </a:rPr>
              <a:t>El entregable final de este TP consistirá en el repositorio con todos los </a:t>
            </a:r>
            <a:r>
              <a:rPr lang="es-AR" u="none" strike="noStrike" dirty="0" err="1" smtClean="0">
                <a:effectLst/>
              </a:rPr>
              <a:t>commits</a:t>
            </a:r>
            <a:r>
              <a:rPr lang="es-AR" u="none" strike="noStrike" dirty="0" smtClean="0">
                <a:effectLst/>
              </a:rPr>
              <a:t> detallados</a:t>
            </a:r>
            <a:r>
              <a:rPr lang="es-AR" dirty="0" smtClean="0"/>
              <a:t>.</a:t>
            </a:r>
            <a:endParaRPr lang="es-AR" u="none" strike="noStrike" dirty="0" smtClean="0">
              <a:effectLst/>
            </a:endParaRPr>
          </a:p>
          <a:p>
            <a:pPr algn="l"/>
            <a:endParaRPr lang="es-AR" dirty="0"/>
          </a:p>
          <a:p>
            <a:pPr algn="l"/>
            <a:endParaRPr lang="es-AR" dirty="0"/>
          </a:p>
          <a:p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1085273" y="1923210"/>
            <a:ext cx="10119592" cy="333375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>
              <a:spcAft>
                <a:spcPts val="7138"/>
              </a:spcAft>
            </a:pPr>
            <a:r>
              <a:rPr lang="en-US" sz="3500" b="1">
                <a:latin typeface="Arial" charset="0"/>
              </a:rPr>
              <a:t>- MICROCONTROLADORES CORTEX -</a:t>
            </a: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1493213" y="3375773"/>
            <a:ext cx="9309485" cy="333375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>
              <a:spcBef>
                <a:spcPts val="7138"/>
              </a:spcBef>
            </a:pPr>
            <a:r>
              <a:rPr lang="en-US" sz="3500" b="1">
                <a:latin typeface="Arial" charset="0"/>
              </a:rPr>
              <a:t>REPERTORIO DE INSTRUCCIONES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5577" y="2431677"/>
            <a:ext cx="11103429" cy="895070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hangingPunct="1">
              <a:spcAft>
                <a:spcPts val="1050"/>
              </a:spcAft>
            </a:pPr>
            <a:r>
              <a:rPr lang="en-US" sz="3900" b="1" dirty="0" err="1">
                <a:latin typeface="Arial" charset="0"/>
              </a:rPr>
              <a:t>Instrucciones</a:t>
            </a:r>
            <a:r>
              <a:rPr lang="en-US" sz="3900" b="1" dirty="0">
                <a:latin typeface="Arial" charset="0"/>
              </a:rPr>
              <a:t> de </a:t>
            </a:r>
            <a:r>
              <a:rPr lang="en-US" sz="3900" b="1" dirty="0" err="1" smtClean="0">
                <a:latin typeface="Arial" charset="0"/>
              </a:rPr>
              <a:t>procesamiento</a:t>
            </a:r>
            <a:r>
              <a:rPr lang="en-US" sz="3900" b="1" dirty="0">
                <a:latin typeface="Arial" charset="0"/>
              </a:rPr>
              <a:t> </a:t>
            </a:r>
            <a:r>
              <a:rPr lang="en-US" sz="3900" b="1" dirty="0" smtClean="0">
                <a:latin typeface="Arial" charset="0"/>
              </a:rPr>
              <a:t>de </a:t>
            </a:r>
            <a:r>
              <a:rPr lang="en-US" sz="3900" b="1" dirty="0" err="1">
                <a:latin typeface="Arial" charset="0"/>
              </a:rPr>
              <a:t>datos</a:t>
            </a:r>
            <a:endParaRPr lang="en-US" sz="3900" b="1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ChangeArrowheads="1"/>
          </p:cNvSpPr>
          <p:nvPr/>
        </p:nvSpPr>
        <p:spPr bwMode="auto">
          <a:xfrm>
            <a:off x="1304637" y="669552"/>
            <a:ext cx="9601970" cy="96230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spcAft>
                <a:spcPts val="1475"/>
              </a:spcAft>
            </a:pPr>
            <a:r>
              <a:rPr lang="en-US" sz="4300" dirty="0" err="1"/>
              <a:t>Instrucciones</a:t>
            </a:r>
            <a:r>
              <a:rPr lang="en-US" sz="4300" dirty="0"/>
              <a:t> de </a:t>
            </a:r>
            <a:r>
              <a:rPr lang="en-US" sz="4300" dirty="0" err="1"/>
              <a:t>procesamiento</a:t>
            </a:r>
            <a:r>
              <a:rPr lang="en-US" sz="4300" dirty="0"/>
              <a:t> </a:t>
            </a:r>
            <a:r>
              <a:rPr lang="en-US" sz="4300" dirty="0" smtClean="0"/>
              <a:t>de </a:t>
            </a:r>
            <a:r>
              <a:rPr lang="en-US" sz="4300" dirty="0" err="1" smtClean="0"/>
              <a:t>datos</a:t>
            </a:r>
            <a:endParaRPr lang="en-US" sz="43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48713" y="2201311"/>
          <a:ext cx="9942022" cy="3743661"/>
        </p:xfrm>
        <a:graphic>
          <a:graphicData uri="http://schemas.openxmlformats.org/drawingml/2006/table">
            <a:tbl>
              <a:tblPr/>
              <a:tblGrid>
                <a:gridCol w="164037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3016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20532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300" b="1">
                          <a:latin typeface="Calibri"/>
                        </a:rPr>
                        <a:t>Instruction</a:t>
                      </a:r>
                    </a:p>
                  </a:txBody>
                  <a:tcPr marL="0" marR="0" marT="0" marB="0" anchor="b">
                    <a:solidFill>
                      <a:srgbClr val="E0EDF2"/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300" b="1">
                          <a:latin typeface="Calibri"/>
                        </a:rPr>
                        <a:t>Function</a:t>
                      </a:r>
                    </a:p>
                  </a:txBody>
                  <a:tcPr marL="0" marR="0" marT="0" marB="0" anchor="b">
                    <a:solidFill>
                      <a:srgbClr val="E0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549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2A1726"/>
                          </a:solidFill>
                          <a:latin typeface="Calibri"/>
                        </a:rPr>
                        <a:t>ADC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Add with carry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549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2A1726"/>
                          </a:solidFill>
                          <a:latin typeface="Calibri"/>
                        </a:rPr>
                        <a:t>ADD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Add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60873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AND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Logical AND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0873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2A1726"/>
                          </a:solidFill>
                          <a:latin typeface="Calibri"/>
                        </a:rPr>
                        <a:t>ASR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Arithmetic shift right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0873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BIC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Bit clear (Logical AND one value with the logic inversion of another value)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5268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CMN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1872"/>
                        </a:lnSpc>
                      </a:pPr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Compare negative (compare one data with two’s complement of another data and update flags)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045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CMP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Compare (compare two data and update flags)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51821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2A1726"/>
                          </a:solidFill>
                          <a:latin typeface="Calibri"/>
                        </a:rPr>
                        <a:t>CPY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indent="0">
                        <a:lnSpc>
                          <a:spcPts val="1872"/>
                        </a:lnSpc>
                      </a:pPr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Copy (available from architecture v6; move a value from one high or low register to another high or low register)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4473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2A1726"/>
                          </a:solidFill>
                          <a:latin typeface="Calibri"/>
                        </a:rPr>
                        <a:t>EOR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Exclusive OR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5818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2A1726"/>
                          </a:solidFill>
                          <a:latin typeface="Calibri"/>
                        </a:rPr>
                        <a:t>LSL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Logical shift left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60873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2A1726"/>
                          </a:solidFill>
                          <a:latin typeface="Calibri"/>
                        </a:rPr>
                        <a:t>LSR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Logical shift right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5818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Calibri"/>
                        </a:rPr>
                        <a:t>MOV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100" dirty="0">
                          <a:solidFill>
                            <a:srgbClr val="332D3A"/>
                          </a:solidFill>
                          <a:latin typeface="Calibri"/>
                        </a:rPr>
                        <a:t>Move (can be used for register-to-register transfers or loading immediate data)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5167" y="2207243"/>
            <a:ext cx="9120909" cy="3993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169894" y="669552"/>
            <a:ext cx="10434918" cy="96230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spcAft>
                <a:spcPts val="1475"/>
              </a:spcAft>
            </a:pPr>
            <a:r>
              <a:rPr lang="en-US" sz="4300" dirty="0" err="1"/>
              <a:t>Instrucciones</a:t>
            </a:r>
            <a:r>
              <a:rPr lang="en-US" sz="4300" dirty="0"/>
              <a:t> de </a:t>
            </a:r>
            <a:r>
              <a:rPr lang="en-US" sz="4300" dirty="0" err="1"/>
              <a:t>procesamiento</a:t>
            </a:r>
            <a:r>
              <a:rPr lang="en-US" sz="4300" dirty="0"/>
              <a:t> </a:t>
            </a:r>
            <a:r>
              <a:rPr lang="en-US" sz="4300" dirty="0" smtClean="0"/>
              <a:t>de </a:t>
            </a:r>
            <a:r>
              <a:rPr lang="en-US" sz="4300" dirty="0" err="1" smtClean="0"/>
              <a:t>datos</a:t>
            </a:r>
            <a:endParaRPr lang="en-US" sz="4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6848" y="731184"/>
            <a:ext cx="7389091" cy="393607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>
                <a:latin typeface="Arial"/>
              </a:rPr>
              <a:t>Procesamiento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2561" y="1573027"/>
            <a:ext cx="2116667" cy="198904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spc="-50">
                <a:latin typeface="Calibri"/>
              </a:rPr>
              <a:t>• Consiste de: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89424" y="1861578"/>
          <a:ext cx="8992524" cy="1183340"/>
        </p:xfrm>
        <a:graphic>
          <a:graphicData uri="http://schemas.openxmlformats.org/drawingml/2006/table">
            <a:tbl>
              <a:tblPr/>
              <a:tblGrid>
                <a:gridCol w="264898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270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305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9358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0923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95835">
                <a:tc>
                  <a:txBody>
                    <a:bodyPr/>
                    <a:lstStyle/>
                    <a:p>
                      <a:pPr indent="0"/>
                      <a:r>
                        <a:rPr lang="en-US" sz="1900" spc="-50">
                          <a:latin typeface="Calibri"/>
                        </a:rPr>
                        <a:t>- Aritmeticas: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/>
                      <a:r>
                        <a:rPr lang="en-US" sz="1900" b="1">
                          <a:latin typeface="Calibri"/>
                        </a:rPr>
                        <a:t>ADD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0"/>
                      <a:r>
                        <a:rPr lang="en-US" sz="1900" b="1">
                          <a:latin typeface="Calibri"/>
                        </a:rPr>
                        <a:t>ADC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0"/>
                      <a:r>
                        <a:rPr lang="en-US" sz="1900" b="1">
                          <a:latin typeface="Calibri"/>
                        </a:rPr>
                        <a:t>SUB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0"/>
                      <a:r>
                        <a:rPr lang="en-US" sz="1900" b="1">
                          <a:latin typeface="Calibri"/>
                        </a:rPr>
                        <a:t>SBC RSB RSC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 indent="0"/>
                      <a:r>
                        <a:rPr lang="en-US" sz="1900" spc="-50">
                          <a:latin typeface="Calibri"/>
                        </a:rPr>
                        <a:t>- Logicas: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/>
                      <a:r>
                        <a:rPr lang="en-US" sz="1900" b="1">
                          <a:latin typeface="Calibri"/>
                        </a:rPr>
                        <a:t>AND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0"/>
                      <a:r>
                        <a:rPr lang="en-US" sz="1900" b="1">
                          <a:latin typeface="Calibri"/>
                        </a:rPr>
                        <a:t>ORR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0"/>
                      <a:r>
                        <a:rPr lang="en-US" sz="1900" b="1">
                          <a:latin typeface="Calibri"/>
                        </a:rPr>
                        <a:t>EOR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0"/>
                      <a:r>
                        <a:rPr lang="en-US" sz="1900" b="1">
                          <a:latin typeface="Calibri"/>
                        </a:rPr>
                        <a:t>BIC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 indent="0"/>
                      <a:r>
                        <a:rPr lang="en-US" sz="1900" spc="-50">
                          <a:latin typeface="Calibri"/>
                        </a:rPr>
                        <a:t>- Comparaciones: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14300" indent="0"/>
                      <a:r>
                        <a:rPr lang="en-US" sz="1900" b="1">
                          <a:latin typeface="Calibri"/>
                        </a:rPr>
                        <a:t>CMP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0"/>
                      <a:r>
                        <a:rPr lang="en-US" sz="1900" b="1">
                          <a:latin typeface="Calibri"/>
                        </a:rPr>
                        <a:t>CMN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0"/>
                      <a:r>
                        <a:rPr lang="en-US" sz="1900" b="1">
                          <a:latin typeface="Calibri"/>
                        </a:rPr>
                        <a:t>TST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90500" indent="0"/>
                      <a:r>
                        <a:rPr lang="en-US" sz="1900" b="1">
                          <a:latin typeface="Calibri"/>
                        </a:rPr>
                        <a:t>TEQ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95835">
                <a:tc gridSpan="2">
                  <a:txBody>
                    <a:bodyPr/>
                    <a:lstStyle/>
                    <a:p>
                      <a:pPr indent="0"/>
                      <a:r>
                        <a:rPr lang="en-US" sz="1900" spc="-50">
                          <a:latin typeface="Calibri"/>
                        </a:rPr>
                        <a:t>- Movimiento Datos: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0" indent="0"/>
                      <a:r>
                        <a:rPr lang="en-US" sz="1900" b="1">
                          <a:latin typeface="Calibri"/>
                        </a:rPr>
                        <a:t>MOV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0"/>
                      <a:r>
                        <a:rPr lang="en-US" sz="1900" b="1">
                          <a:latin typeface="Calibri"/>
                        </a:rPr>
                        <a:t>MVN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052562" y="3294529"/>
            <a:ext cx="8801485" cy="1631857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just" eaLnBrk="1" fontAlgn="auto" hangingPunct="1">
              <a:spcBef>
                <a:spcPts val="2100"/>
              </a:spcBef>
              <a:spcAft>
                <a:spcPts val="2100"/>
              </a:spcAft>
              <a:defRPr/>
            </a:pPr>
            <a:r>
              <a:rPr lang="en-US" sz="2100" spc="-50">
                <a:latin typeface="Calibri"/>
              </a:rPr>
              <a:t>•    Estas instrucciones operan sobre registros y NO en memoria.</a:t>
            </a:r>
          </a:p>
          <a:p>
            <a:pPr algn="just" eaLnBrk="1" fontAlgn="auto" hangingPunct="1">
              <a:lnSpc>
                <a:spcPts val="254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spc="-50">
                <a:latin typeface="Calibri"/>
              </a:rPr>
              <a:t>•    Sintaxis:</a:t>
            </a:r>
          </a:p>
          <a:p>
            <a:pPr marL="355600" algn="just" eaLnBrk="1" fontAlgn="auto" hangingPunct="1">
              <a:lnSpc>
                <a:spcPts val="254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>
                <a:latin typeface="Calibri"/>
              </a:rPr>
              <a:t>&lt;Operacion&gt;{&lt;cond&gt;}{S} Rd, Rn, Operand2</a:t>
            </a:r>
          </a:p>
          <a:p>
            <a:pPr marL="927100" algn="just" eaLnBrk="1" fontAlgn="auto" hangingPunct="1">
              <a:lnSpc>
                <a:spcPts val="254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spc="-50">
                <a:latin typeface="Calibri"/>
              </a:rPr>
              <a:t>-    Comparaciones solo afectan flags - no especifican Rd</a:t>
            </a:r>
          </a:p>
          <a:p>
            <a:pPr marL="927100" algn="just" eaLnBrk="1" fontAlgn="auto" hangingPunct="1">
              <a:lnSpc>
                <a:spcPts val="2544"/>
              </a:lnSpc>
              <a:spcBef>
                <a:spcPts val="0"/>
              </a:spcBef>
              <a:spcAft>
                <a:spcPts val="1680"/>
              </a:spcAft>
              <a:defRPr/>
            </a:pPr>
            <a:r>
              <a:rPr lang="en-US" sz="2100" spc="-50">
                <a:latin typeface="Calibri"/>
              </a:rPr>
              <a:t>-    Movimiento de datos no especifican Rn</a:t>
            </a:r>
          </a:p>
        </p:txBody>
      </p:sp>
      <p:sp>
        <p:nvSpPr>
          <p:cNvPr id="6" name="Rectangle 5"/>
          <p:cNvSpPr/>
          <p:nvPr/>
        </p:nvSpPr>
        <p:spPr>
          <a:xfrm>
            <a:off x="1470121" y="5261162"/>
            <a:ext cx="9292167" cy="483254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just" eaLnBrk="1" fontAlgn="auto" hangingPunct="1">
              <a:lnSpc>
                <a:spcPts val="2160"/>
              </a:lnSpc>
              <a:spcBef>
                <a:spcPts val="1680"/>
              </a:spcBef>
              <a:spcAft>
                <a:spcPts val="0"/>
              </a:spcAft>
              <a:defRPr/>
            </a:pPr>
            <a:r>
              <a:rPr lang="en-US" sz="2100" spc="-50">
                <a:latin typeface="Calibri"/>
              </a:rPr>
              <a:t>El segundo operando se envia a la ALU a traves del desplazador en barril (shifter).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6849" y="1046350"/>
            <a:ext cx="7385242" cy="847444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r" eaLnBrk="1" fontAlgn="auto" hangingPunct="1">
              <a:spcBef>
                <a:spcPts val="0"/>
              </a:spcBef>
              <a:spcAft>
                <a:spcPts val="1050"/>
              </a:spcAft>
              <a:defRPr/>
            </a:pPr>
            <a:r>
              <a:rPr lang="en-US" sz="4300" spc="-50">
                <a:latin typeface="Arial"/>
              </a:rPr>
              <a:t>Procesamiento de Datos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>
                <a:latin typeface="Arial"/>
              </a:rPr>
              <a:t>Aritmeticas</a:t>
            </a: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500910" y="2269191"/>
            <a:ext cx="3775364" cy="2942945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1" hangingPunct="1">
              <a:lnSpc>
                <a:spcPts val="4638"/>
              </a:lnSpc>
            </a:pPr>
            <a:r>
              <a:rPr lang="en-US" sz="3200">
                <a:latin typeface="Arial" charset="0"/>
              </a:rPr>
              <a:t>•    ADD r1, r2, r3</a:t>
            </a:r>
          </a:p>
          <a:p>
            <a:pPr algn="just" eaLnBrk="1" hangingPunct="1">
              <a:lnSpc>
                <a:spcPts val="4638"/>
              </a:lnSpc>
            </a:pPr>
            <a:r>
              <a:rPr lang="en-US" sz="3200">
                <a:latin typeface="Arial" charset="0"/>
              </a:rPr>
              <a:t>•    ADC r1, r2, r3</a:t>
            </a:r>
          </a:p>
          <a:p>
            <a:pPr algn="just" eaLnBrk="1" hangingPunct="1">
              <a:lnSpc>
                <a:spcPts val="4638"/>
              </a:lnSpc>
            </a:pPr>
            <a:r>
              <a:rPr lang="en-US" sz="3200">
                <a:latin typeface="Arial" charset="0"/>
              </a:rPr>
              <a:t>•    SUB r1, r2, r3</a:t>
            </a:r>
          </a:p>
          <a:p>
            <a:pPr algn="just" eaLnBrk="1" hangingPunct="1">
              <a:lnSpc>
                <a:spcPts val="4638"/>
              </a:lnSpc>
            </a:pPr>
            <a:r>
              <a:rPr lang="en-US" sz="3200">
                <a:latin typeface="Arial" charset="0"/>
              </a:rPr>
              <a:t>•    SUBC r1, r2, r3</a:t>
            </a:r>
          </a:p>
          <a:p>
            <a:pPr algn="just" eaLnBrk="1" hangingPunct="1">
              <a:lnSpc>
                <a:spcPts val="4638"/>
              </a:lnSpc>
            </a:pPr>
            <a:r>
              <a:rPr lang="en-US" sz="3200">
                <a:latin typeface="Arial" charset="0"/>
              </a:rPr>
              <a:t>•    RSB r1, r2, r3</a:t>
            </a:r>
          </a:p>
          <a:p>
            <a:pPr algn="just" eaLnBrk="1" hangingPunct="1">
              <a:lnSpc>
                <a:spcPts val="4638"/>
              </a:lnSpc>
            </a:pPr>
            <a:r>
              <a:rPr lang="en-US" sz="3200">
                <a:latin typeface="Arial" charset="0"/>
              </a:rPr>
              <a:t>•    RSC r1, r2, r3</a:t>
            </a: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6211455" y="2269191"/>
            <a:ext cx="4354561" cy="2891118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lnSpc>
                <a:spcPts val="4638"/>
              </a:lnSpc>
            </a:pPr>
            <a:r>
              <a:rPr lang="en-US" sz="3200" dirty="0">
                <a:latin typeface="Arial" charset="0"/>
              </a:rPr>
              <a:t>r1 = r2 + r3 </a:t>
            </a:r>
            <a:endParaRPr lang="en-US" sz="3200" dirty="0" smtClean="0">
              <a:latin typeface="Arial" charset="0"/>
            </a:endParaRPr>
          </a:p>
          <a:p>
            <a:pPr eaLnBrk="1" hangingPunct="1">
              <a:lnSpc>
                <a:spcPts val="4638"/>
              </a:lnSpc>
            </a:pPr>
            <a:r>
              <a:rPr lang="en-US" sz="3200" dirty="0" smtClean="0">
                <a:latin typeface="Arial" charset="0"/>
              </a:rPr>
              <a:t>r1 </a:t>
            </a:r>
            <a:r>
              <a:rPr lang="en-US" sz="3200" dirty="0">
                <a:latin typeface="Arial" charset="0"/>
              </a:rPr>
              <a:t>= r2 + r3 + C </a:t>
            </a:r>
            <a:endParaRPr lang="en-US" sz="3200" dirty="0" smtClean="0">
              <a:latin typeface="Arial" charset="0"/>
            </a:endParaRPr>
          </a:p>
          <a:p>
            <a:pPr eaLnBrk="1" hangingPunct="1">
              <a:lnSpc>
                <a:spcPts val="4638"/>
              </a:lnSpc>
            </a:pPr>
            <a:r>
              <a:rPr lang="en-US" sz="3200" dirty="0" smtClean="0">
                <a:latin typeface="Arial" charset="0"/>
              </a:rPr>
              <a:t>r1 </a:t>
            </a:r>
            <a:r>
              <a:rPr lang="en-US" sz="3200" dirty="0">
                <a:latin typeface="Arial" charset="0"/>
              </a:rPr>
              <a:t>= r2 - r3 </a:t>
            </a:r>
            <a:endParaRPr lang="en-US" sz="3200" dirty="0" smtClean="0">
              <a:latin typeface="Arial" charset="0"/>
            </a:endParaRPr>
          </a:p>
          <a:p>
            <a:pPr eaLnBrk="1" hangingPunct="1">
              <a:lnSpc>
                <a:spcPts val="4638"/>
              </a:lnSpc>
            </a:pPr>
            <a:r>
              <a:rPr lang="en-US" sz="3200" dirty="0" smtClean="0">
                <a:latin typeface="Arial" charset="0"/>
              </a:rPr>
              <a:t>r1 </a:t>
            </a:r>
            <a:r>
              <a:rPr lang="en-US" sz="3200" dirty="0">
                <a:latin typeface="Arial" charset="0"/>
              </a:rPr>
              <a:t>= r2 - r3 + C -1 </a:t>
            </a:r>
            <a:endParaRPr lang="en-US" sz="3200" dirty="0" smtClean="0">
              <a:latin typeface="Arial" charset="0"/>
            </a:endParaRPr>
          </a:p>
          <a:p>
            <a:pPr eaLnBrk="1" hangingPunct="1">
              <a:lnSpc>
                <a:spcPts val="4638"/>
              </a:lnSpc>
            </a:pPr>
            <a:r>
              <a:rPr lang="en-US" sz="3200" dirty="0" smtClean="0">
                <a:latin typeface="Arial" charset="0"/>
              </a:rPr>
              <a:t>r1 </a:t>
            </a:r>
            <a:r>
              <a:rPr lang="en-US" sz="3200" dirty="0">
                <a:latin typeface="Arial" charset="0"/>
              </a:rPr>
              <a:t>= r3 - r2 (</a:t>
            </a:r>
            <a:r>
              <a:rPr lang="en-US" sz="3200" dirty="0" err="1">
                <a:latin typeface="Arial" charset="0"/>
              </a:rPr>
              <a:t>inversa</a:t>
            </a:r>
            <a:r>
              <a:rPr lang="en-US" sz="3200" dirty="0">
                <a:latin typeface="Arial" charset="0"/>
              </a:rPr>
              <a:t>) </a:t>
            </a:r>
            <a:endParaRPr lang="en-US" sz="3200" dirty="0" smtClean="0">
              <a:latin typeface="Arial" charset="0"/>
            </a:endParaRPr>
          </a:p>
          <a:p>
            <a:pPr eaLnBrk="1" hangingPunct="1">
              <a:lnSpc>
                <a:spcPts val="4638"/>
              </a:lnSpc>
            </a:pPr>
            <a:r>
              <a:rPr lang="en-US" sz="3200" dirty="0" smtClean="0">
                <a:latin typeface="Arial" charset="0"/>
              </a:rPr>
              <a:t>r1 </a:t>
            </a:r>
            <a:r>
              <a:rPr lang="en-US" sz="3200" dirty="0">
                <a:latin typeface="Arial" charset="0"/>
              </a:rPr>
              <a:t>= r3 - r2 + C -1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67667" y="1256460"/>
            <a:ext cx="4660515" cy="491658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3780"/>
              </a:spcAft>
              <a:defRPr/>
            </a:pPr>
            <a:r>
              <a:rPr lang="en-US" sz="4300" spc="-50">
                <a:latin typeface="Arial"/>
              </a:rPr>
              <a:t>Suma Multibyte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0910" y="2267791"/>
            <a:ext cx="8888076" cy="1731309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marL="368300" indent="-368300" eaLnBrk="1" fontAlgn="auto" hangingPunct="1">
              <a:lnSpc>
                <a:spcPts val="3816"/>
              </a:lnSpc>
              <a:spcBef>
                <a:spcPts val="3780"/>
              </a:spcBef>
              <a:spcAft>
                <a:spcPts val="840"/>
              </a:spcAft>
              <a:defRPr/>
            </a:pPr>
            <a:r>
              <a:rPr lang="en-US" sz="3200">
                <a:latin typeface="Arial"/>
              </a:rPr>
              <a:t>• Se pretende sumar dos magnitudes de 64 bits cada una de ellas estan en registros segun el siguiente esquema:</a:t>
            </a:r>
          </a:p>
          <a:p>
            <a:pPr marL="1943100" eaLnBrk="1" fontAlgn="auto" hangingPunct="1">
              <a:spcBef>
                <a:spcPts val="0"/>
              </a:spcBef>
              <a:spcAft>
                <a:spcPts val="1470"/>
              </a:spcAft>
              <a:defRPr/>
            </a:pPr>
            <a:r>
              <a:rPr lang="en-US" sz="3500" b="1">
                <a:latin typeface="Arial"/>
              </a:rPr>
              <a:t>r1.r2.r3 = r4.r5 + r6.r7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1906925" y="4233022"/>
            <a:ext cx="8124152" cy="724181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lnSpc>
                <a:spcPts val="3813"/>
              </a:lnSpc>
              <a:spcBef>
                <a:spcPts val="1475"/>
              </a:spcBef>
            </a:pPr>
            <a:r>
              <a:rPr lang="en-US" sz="3200">
                <a:latin typeface="Arial" charset="0"/>
              </a:rPr>
              <a:t>Donde r1 contendra el acarreo de las sumas anteriores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9774" y="1014133"/>
            <a:ext cx="8947727" cy="486056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marL="152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>
                <a:latin typeface="Arial"/>
              </a:rPr>
              <a:t>Aritmeticas - Suma Multibyte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9774" y="1890993"/>
            <a:ext cx="8947727" cy="4076140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hangingPunct="1">
              <a:lnSpc>
                <a:spcPts val="2875"/>
              </a:lnSpc>
            </a:pPr>
            <a:r>
              <a:rPr lang="en-US" sz="2100"/>
              <a:t>Inicio</a:t>
            </a:r>
          </a:p>
          <a:p>
            <a:pPr algn="just" eaLnBrk="1" hangingPunct="1">
              <a:lnSpc>
                <a:spcPts val="2875"/>
              </a:lnSpc>
            </a:pPr>
            <a:r>
              <a:rPr lang="en-US" sz="2100"/>
              <a:t>; Inicializacion de Registros mov r4,#0x50 mov r5,#0x70 mov r6,#0xc0 mov r7,#0xf0</a:t>
            </a:r>
          </a:p>
          <a:p>
            <a:pPr algn="just" eaLnBrk="1" hangingPunct="1">
              <a:lnSpc>
                <a:spcPts val="2875"/>
              </a:lnSpc>
            </a:pPr>
            <a:r>
              <a:rPr lang="en-US" sz="2100"/>
              <a:t>mov r1,#0    ;Acarreo inicial = 0</a:t>
            </a:r>
          </a:p>
          <a:p>
            <a:pPr eaLnBrk="1" hangingPunct="1">
              <a:lnSpc>
                <a:spcPts val="2875"/>
              </a:lnSpc>
            </a:pPr>
            <a:r>
              <a:rPr lang="en-US" sz="2100"/>
              <a:t>; Suma</a:t>
            </a:r>
          </a:p>
          <a:p>
            <a:pPr eaLnBrk="1" hangingPunct="1">
              <a:lnSpc>
                <a:spcPts val="2875"/>
              </a:lnSpc>
            </a:pPr>
            <a:r>
              <a:rPr lang="en-US" sz="2100"/>
              <a:t>adtf^ r3,r5,r7 adq0 r2,r4,r6 bcc no_hubo_acarreo add r1,r1,#0x1 no hubo acarreo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6849" y="1260662"/>
            <a:ext cx="7385242" cy="390806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>
                <a:latin typeface="Arial"/>
              </a:rPr>
              <a:t>Procesamiento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0909" y="2267791"/>
            <a:ext cx="8499379" cy="3420596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fontAlgn="auto" hangingPunct="1">
              <a:lnSpc>
                <a:spcPts val="410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>
                <a:latin typeface="Arial"/>
              </a:rPr>
              <a:t>• Aritmeticas</a:t>
            </a:r>
          </a:p>
          <a:p>
            <a:pPr marL="456692" algn="just" eaLnBrk="1" fontAlgn="auto" hangingPunct="1">
              <a:lnSpc>
                <a:spcPts val="410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>
                <a:latin typeface="Calibri"/>
              </a:rPr>
              <a:t>-    ADD r3,r2,#1</a:t>
            </a:r>
          </a:p>
          <a:p>
            <a:pPr marL="456692" algn="just" eaLnBrk="1" fontAlgn="auto" hangingPunct="1">
              <a:lnSpc>
                <a:spcPts val="410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>
                <a:latin typeface="Calibri"/>
              </a:rPr>
              <a:t>-    ADD r3,r2,r1, Isl #3 (Isr, asl, asr, ror, rrx)</a:t>
            </a:r>
          </a:p>
          <a:p>
            <a:pPr marL="456692" algn="just"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3100">
                <a:latin typeface="Calibri"/>
              </a:rPr>
              <a:t>-    ADD r5,r5,r3, LSL r2</a:t>
            </a:r>
          </a:p>
          <a:p>
            <a:pPr marL="456692" algn="just"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3100">
                <a:latin typeface="Calibri"/>
              </a:rPr>
              <a:t>-    MULr4,r3,r2</a:t>
            </a:r>
          </a:p>
          <a:p>
            <a:pPr marL="456692" algn="just"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3100">
                <a:latin typeface="Calibri"/>
              </a:rPr>
              <a:t>-    MLA r4,r3,r2,r1 ;r4:=(r3 x r2 + r1)</a:t>
            </a:r>
          </a:p>
          <a:p>
            <a:pPr marL="456692" algn="just"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3100">
                <a:latin typeface="Calibri"/>
              </a:rPr>
              <a:t>-    RSB rO,rO,rO, LSL #3</a:t>
            </a:r>
          </a:p>
          <a:p>
            <a:pPr marL="185369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spc="-50">
                <a:latin typeface="Calibri"/>
              </a:rPr>
              <a:t>» ; Multiplicar por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ChangeArrowheads="1"/>
          </p:cNvSpPr>
          <p:nvPr/>
        </p:nvSpPr>
        <p:spPr bwMode="auto">
          <a:xfrm>
            <a:off x="4175606" y="959505"/>
            <a:ext cx="3848485" cy="460841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4300"/>
              <a:t>Multiplicacion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91410" y="2367243"/>
          <a:ext cx="8320116" cy="1896036"/>
        </p:xfrm>
        <a:graphic>
          <a:graphicData uri="http://schemas.openxmlformats.org/drawingml/2006/table">
            <a:tbl>
              <a:tblPr/>
              <a:tblGrid>
                <a:gridCol w="27782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598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7819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9965"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Calculation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Result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Clock Cycles</a:t>
                      </a:r>
                    </a:p>
                  </a:txBody>
                  <a:tcPr marL="0" marR="0" marT="0" marB="0" anchor="b">
                    <a:solidFill>
                      <a:srgbClr val="FE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139">
                <a:tc>
                  <a:txBody>
                    <a:bodyPr/>
                    <a:lstStyle/>
                    <a:p>
                      <a:pPr marL="177800" indent="0"/>
                      <a:r>
                        <a:rPr lang="en-US" sz="1500" b="1">
                          <a:latin typeface="Arial"/>
                        </a:rPr>
                        <a:t>16bx16b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32b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1139">
                <a:tc>
                  <a:txBody>
                    <a:bodyPr/>
                    <a:lstStyle/>
                    <a:p>
                      <a:pPr marL="177800" indent="0"/>
                      <a:r>
                        <a:rPr lang="en-US" sz="1500" b="1">
                          <a:latin typeface="Arial"/>
                        </a:rPr>
                        <a:t>32bx16b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32b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1139">
                <a:tc>
                  <a:txBody>
                    <a:bodyPr/>
                    <a:lstStyle/>
                    <a:p>
                      <a:pPr marL="177800" indent="0"/>
                      <a:r>
                        <a:rPr lang="en-US" sz="1500" b="1">
                          <a:latin typeface="Arial"/>
                        </a:rPr>
                        <a:t>32b x 32b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32b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2654">
                <a:tc>
                  <a:txBody>
                    <a:bodyPr/>
                    <a:lstStyle/>
                    <a:p>
                      <a:pPr marL="177800" indent="0"/>
                      <a:r>
                        <a:rPr lang="en-US" sz="1500" b="1">
                          <a:latin typeface="Arial"/>
                        </a:rPr>
                        <a:t>32b x 32b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64b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500" b="1">
                          <a:latin typeface="Arial"/>
                        </a:rPr>
                        <a:t>3-7*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6849" y="1260662"/>
            <a:ext cx="7385242" cy="390806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>
                <a:latin typeface="Arial"/>
              </a:rPr>
              <a:t>Procesamiento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0910" y="2267791"/>
            <a:ext cx="4185228" cy="2623577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fontAlgn="auto" hangingPunct="1">
              <a:lnSpc>
                <a:spcPts val="410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>
                <a:latin typeface="Arial"/>
              </a:rPr>
              <a:t>• Logicas</a:t>
            </a:r>
          </a:p>
          <a:p>
            <a:pPr marL="457200" algn="just" eaLnBrk="1" fontAlgn="auto" hangingPunct="1">
              <a:lnSpc>
                <a:spcPts val="410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>
                <a:latin typeface="Calibri"/>
              </a:rPr>
              <a:t>-    AND r0,r1,r2</a:t>
            </a:r>
          </a:p>
          <a:p>
            <a:pPr marL="457200" algn="just" eaLnBrk="1" fontAlgn="auto" hangingPunct="1">
              <a:lnSpc>
                <a:spcPts val="410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>
                <a:latin typeface="Calibri"/>
              </a:rPr>
              <a:t>-    ORR r0,r1,r2</a:t>
            </a:r>
          </a:p>
          <a:p>
            <a:pPr marL="457200" algn="just" eaLnBrk="1" fontAlgn="auto" hangingPunct="1">
              <a:lnSpc>
                <a:spcPts val="4056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>
                <a:latin typeface="Calibri"/>
              </a:rPr>
              <a:t>-    EOR r0,r1,r2</a:t>
            </a:r>
          </a:p>
          <a:p>
            <a:pPr marL="457200" algn="just" eaLnBrk="1" fontAlgn="auto" hangingPunct="1">
              <a:lnSpc>
                <a:spcPts val="4056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>
                <a:latin typeface="Calibri"/>
              </a:rPr>
              <a:t>-    BIC r0,r1,r2</a:t>
            </a:r>
          </a:p>
          <a:p>
            <a:pPr marL="457200" algn="just" eaLnBrk="1" fontAlgn="auto" hangingPunct="1">
              <a:lnSpc>
                <a:spcPts val="4056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>
                <a:latin typeface="Calibri"/>
              </a:rPr>
              <a:t>-    AND r8,r7,#0xff</a:t>
            </a:r>
          </a:p>
        </p:txBody>
      </p:sp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6172970" y="2765052"/>
            <a:ext cx="4773703" cy="2081493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lnSpc>
                <a:spcPts val="4050"/>
              </a:lnSpc>
            </a:pPr>
            <a:r>
              <a:rPr lang="en-US" sz="3100" dirty="0"/>
              <a:t>r0:= r1.r2 </a:t>
            </a:r>
            <a:endParaRPr lang="en-US" sz="3100" dirty="0" smtClean="0"/>
          </a:p>
          <a:p>
            <a:pPr eaLnBrk="1" hangingPunct="1">
              <a:lnSpc>
                <a:spcPts val="4050"/>
              </a:lnSpc>
            </a:pPr>
            <a:r>
              <a:rPr lang="en-US" sz="3100" dirty="0" smtClean="0"/>
              <a:t>r0</a:t>
            </a:r>
            <a:r>
              <a:rPr lang="en-US" sz="3100" dirty="0"/>
              <a:t>:= r1 + r2 </a:t>
            </a:r>
            <a:endParaRPr lang="en-US" sz="3100" dirty="0" smtClean="0"/>
          </a:p>
          <a:p>
            <a:pPr eaLnBrk="1" hangingPunct="1">
              <a:lnSpc>
                <a:spcPts val="4050"/>
              </a:lnSpc>
            </a:pPr>
            <a:r>
              <a:rPr lang="en-US" sz="3100" dirty="0" smtClean="0"/>
              <a:t>r0</a:t>
            </a:r>
            <a:r>
              <a:rPr lang="en-US" sz="3100" dirty="0"/>
              <a:t>:= r1 </a:t>
            </a:r>
            <a:r>
              <a:rPr lang="en-US" sz="3100" dirty="0" err="1"/>
              <a:t>xor</a:t>
            </a:r>
            <a:r>
              <a:rPr lang="en-US" sz="3100" dirty="0"/>
              <a:t> r2 </a:t>
            </a:r>
            <a:endParaRPr lang="en-US" sz="3100" dirty="0" smtClean="0"/>
          </a:p>
          <a:p>
            <a:pPr eaLnBrk="1" hangingPunct="1">
              <a:lnSpc>
                <a:spcPts val="4050"/>
              </a:lnSpc>
            </a:pPr>
            <a:r>
              <a:rPr lang="en-US" sz="3100" dirty="0" smtClean="0"/>
              <a:t>r0</a:t>
            </a:r>
            <a:r>
              <a:rPr lang="en-US" sz="3100" dirty="0"/>
              <a:t>:= r1 and not </a:t>
            </a:r>
            <a:endParaRPr lang="en-US" sz="3100" dirty="0" smtClean="0"/>
          </a:p>
          <a:p>
            <a:pPr eaLnBrk="1" hangingPunct="1">
              <a:lnSpc>
                <a:spcPts val="4050"/>
              </a:lnSpc>
            </a:pPr>
            <a:r>
              <a:rPr lang="en-US" sz="3100" dirty="0" smtClean="0"/>
              <a:t>r2 </a:t>
            </a:r>
            <a:r>
              <a:rPr lang="en-US" sz="3100" dirty="0"/>
              <a:t>r8:= </a:t>
            </a:r>
            <a:r>
              <a:rPr lang="en-US" sz="3100" dirty="0" smtClean="0"/>
              <a:t>r7.OxOOOOOOff</a:t>
            </a:r>
            <a:endParaRPr lang="en-US" sz="3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6849" y="1046350"/>
            <a:ext cx="7385242" cy="389404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>
                <a:latin typeface="Arial"/>
              </a:rPr>
              <a:t>Procesamiento de Datos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91816" y="2200538"/>
          <a:ext cx="8161251" cy="3211158"/>
        </p:xfrm>
        <a:graphic>
          <a:graphicData uri="http://schemas.openxmlformats.org/drawingml/2006/table">
            <a:tbl>
              <a:tblPr/>
              <a:tblGrid>
                <a:gridCol w="16662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3755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1941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20762">
                <a:tc>
                  <a:txBody>
                    <a:bodyPr/>
                    <a:lstStyle/>
                    <a:p>
                      <a:endParaRPr sz="3400" dirty="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03200" indent="0" algn="ctr"/>
                      <a:r>
                        <a:rPr lang="en-US" sz="2800">
                          <a:latin typeface="Arial"/>
                        </a:rPr>
                        <a:t>Solo afectan los Flags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39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9172">
                <a:tc>
                  <a:txBody>
                    <a:bodyPr/>
                    <a:lstStyle/>
                    <a:p>
                      <a:pPr indent="0"/>
                      <a:r>
                        <a:rPr lang="en-US" sz="2800">
                          <a:latin typeface="Arial"/>
                        </a:rPr>
                        <a:t>CMP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82600" indent="0"/>
                      <a:r>
                        <a:rPr lang="en-US" sz="2800">
                          <a:latin typeface="Arial"/>
                        </a:rPr>
                        <a:t>r1, r2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368300" indent="0"/>
                      <a:r>
                        <a:rPr lang="en-US" sz="2800">
                          <a:latin typeface="Arial"/>
                        </a:rPr>
                        <a:t>; cc por r1 - r2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0306">
                <a:tc>
                  <a:txBody>
                    <a:bodyPr/>
                    <a:lstStyle/>
                    <a:p>
                      <a:pPr indent="0"/>
                      <a:r>
                        <a:rPr lang="en-US" sz="2800">
                          <a:latin typeface="Arial"/>
                        </a:rPr>
                        <a:t>CMN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82600" indent="0"/>
                      <a:r>
                        <a:rPr lang="en-US" sz="2800">
                          <a:latin typeface="Arial"/>
                        </a:rPr>
                        <a:t>r1, r2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368300" indent="0"/>
                      <a:r>
                        <a:rPr lang="en-US" sz="2800">
                          <a:latin typeface="Arial"/>
                        </a:rPr>
                        <a:t>; cc por r1 + r2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60612">
                <a:tc>
                  <a:txBody>
                    <a:bodyPr/>
                    <a:lstStyle/>
                    <a:p>
                      <a:pPr indent="0"/>
                      <a:r>
                        <a:rPr lang="en-US" sz="2800">
                          <a:latin typeface="Arial"/>
                        </a:rPr>
                        <a:t>TST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82600" indent="0"/>
                      <a:r>
                        <a:rPr lang="en-US" sz="2800" dirty="0">
                          <a:latin typeface="Arial"/>
                        </a:rPr>
                        <a:t>r1, r2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368300" indent="0"/>
                      <a:r>
                        <a:rPr lang="en-US" sz="2800">
                          <a:latin typeface="Arial"/>
                        </a:rPr>
                        <a:t>; cc por r1 and r2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0306">
                <a:tc>
                  <a:txBody>
                    <a:bodyPr/>
                    <a:lstStyle/>
                    <a:p>
                      <a:pPr indent="0"/>
                      <a:r>
                        <a:rPr lang="en-US" sz="2800">
                          <a:latin typeface="Arial"/>
                        </a:rPr>
                        <a:t>TEQ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82600" indent="0"/>
                      <a:r>
                        <a:rPr lang="en-US" sz="2800">
                          <a:latin typeface="Arial"/>
                        </a:rPr>
                        <a:t>r1, r2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368300" indent="0"/>
                      <a:r>
                        <a:rPr lang="en-US" sz="2800" dirty="0">
                          <a:latin typeface="Arial"/>
                        </a:rPr>
                        <a:t>; cc </a:t>
                      </a:r>
                      <a:r>
                        <a:rPr lang="en-US" sz="2800" dirty="0" err="1">
                          <a:latin typeface="Arial"/>
                        </a:rPr>
                        <a:t>por</a:t>
                      </a:r>
                      <a:r>
                        <a:rPr lang="en-US" sz="2800" dirty="0">
                          <a:latin typeface="Arial"/>
                        </a:rPr>
                        <a:t> r1 </a:t>
                      </a:r>
                      <a:r>
                        <a:rPr lang="en-US" sz="2800" dirty="0" err="1">
                          <a:latin typeface="Arial"/>
                        </a:rPr>
                        <a:t>xor</a:t>
                      </a:r>
                      <a:r>
                        <a:rPr lang="en-US" sz="2800" dirty="0">
                          <a:latin typeface="Arial"/>
                        </a:rPr>
                        <a:t> r2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0910" y="1019736"/>
            <a:ext cx="9902964" cy="978881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marL="762000"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4300" spc="-50" dirty="0" err="1">
                <a:latin typeface="Arial"/>
              </a:rPr>
              <a:t>Procesamiento</a:t>
            </a:r>
            <a:r>
              <a:rPr lang="en-US" sz="4300" spc="-50" dirty="0">
                <a:latin typeface="Arial"/>
              </a:rPr>
              <a:t> de </a:t>
            </a:r>
            <a:r>
              <a:rPr lang="en-US" sz="4300" spc="-50" dirty="0" err="1" smtClean="0">
                <a:latin typeface="Arial"/>
              </a:rPr>
              <a:t>Datos</a:t>
            </a:r>
            <a:r>
              <a:rPr lang="en-US" sz="4300" spc="-50" dirty="0">
                <a:latin typeface="Arial"/>
              </a:rPr>
              <a:t> </a:t>
            </a:r>
            <a:r>
              <a:rPr lang="en-US" sz="3500" dirty="0" err="1" smtClean="0">
                <a:latin typeface="Arial"/>
              </a:rPr>
              <a:t>Inmediatas</a:t>
            </a:r>
            <a:endParaRPr lang="en-US" sz="3500" dirty="0" smtClean="0">
              <a:latin typeface="Arial"/>
            </a:endParaRPr>
          </a:p>
          <a:p>
            <a:pPr marL="762000"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endParaRPr lang="en-US" sz="3500" dirty="0">
              <a:latin typeface="Arial"/>
            </a:endParaRPr>
          </a:p>
          <a:p>
            <a:pPr algn="just"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3200" dirty="0">
                <a:latin typeface="Arial"/>
              </a:rPr>
              <a:t>•    ADD r3, r3,#1    ; r3 := r3 + 1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latin typeface="Arial"/>
              </a:rPr>
              <a:t>•    AND r8, r7,#oxff ; r8 := r7[7:0]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36469" y="1046350"/>
            <a:ext cx="10306594" cy="914680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1050"/>
              </a:spcAft>
              <a:defRPr/>
            </a:pPr>
            <a:r>
              <a:rPr lang="en-US" sz="4300" spc="-50" dirty="0" err="1">
                <a:latin typeface="Arial"/>
              </a:rPr>
              <a:t>Procesamiento</a:t>
            </a:r>
            <a:r>
              <a:rPr lang="en-US" sz="4300" spc="-50" dirty="0">
                <a:latin typeface="Arial"/>
              </a:rPr>
              <a:t> de </a:t>
            </a:r>
            <a:r>
              <a:rPr lang="en-US" sz="4300" spc="-50" dirty="0" err="1" smtClean="0">
                <a:latin typeface="Arial"/>
              </a:rPr>
              <a:t>Datos</a:t>
            </a:r>
            <a:r>
              <a:rPr lang="en-US" sz="4300" spc="-50" dirty="0" smtClean="0">
                <a:latin typeface="Arial"/>
              </a:rPr>
              <a:t> </a:t>
            </a:r>
            <a:r>
              <a:rPr lang="en-US" sz="3200" dirty="0" err="1" smtClean="0">
                <a:latin typeface="Arial"/>
              </a:rPr>
              <a:t>Desplazamientos</a:t>
            </a:r>
            <a:endParaRPr lang="en-US" sz="3200" dirty="0"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031" y="2926137"/>
            <a:ext cx="9232515" cy="1589834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just" eaLnBrk="1" fontAlgn="auto" hangingPunct="1">
              <a:lnSpc>
                <a:spcPts val="4152"/>
              </a:lnSpc>
              <a:spcBef>
                <a:spcPts val="6510"/>
              </a:spcBef>
              <a:spcAft>
                <a:spcPts val="0"/>
              </a:spcAft>
              <a:defRPr/>
            </a:pPr>
            <a:r>
              <a:rPr lang="en-US" sz="3100" spc="-50" dirty="0">
                <a:latin typeface="Calibri"/>
              </a:rPr>
              <a:t>• ADD    r3, r2, r1, LSL#3 ; r3 := r2 + 8 x r1</a:t>
            </a:r>
          </a:p>
          <a:p>
            <a:pPr algn="just" eaLnBrk="1" fontAlgn="auto" hangingPunct="1">
              <a:lnSpc>
                <a:spcPts val="415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 spc="-50" dirty="0">
                <a:latin typeface="Calibri"/>
              </a:rPr>
              <a:t>• ADD    r5, r5, r3, LSL r2 ; r5 : = r5 + r3 x 2</a:t>
            </a:r>
            <a:r>
              <a:rPr lang="en-US" sz="3100" spc="-50" baseline="30000" dirty="0">
                <a:latin typeface="Calibri"/>
              </a:rPr>
              <a:t>r2</a:t>
            </a:r>
          </a:p>
          <a:p>
            <a:pPr algn="just" eaLnBrk="1" fontAlgn="auto" hangingPunct="1">
              <a:lnSpc>
                <a:spcPts val="415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 spc="-50" dirty="0">
                <a:latin typeface="Calibri"/>
              </a:rPr>
              <a:t>• </a:t>
            </a:r>
            <a:r>
              <a:rPr lang="en-US" sz="3100" spc="-50" dirty="0" smtClean="0">
                <a:latin typeface="Calibri"/>
              </a:rPr>
              <a:t>RSB     </a:t>
            </a:r>
            <a:r>
              <a:rPr lang="en-US" sz="3100" spc="-50" dirty="0" err="1" smtClean="0">
                <a:latin typeface="Calibri"/>
              </a:rPr>
              <a:t>rO,rO,rO</a:t>
            </a:r>
            <a:r>
              <a:rPr lang="en-US" sz="3100" spc="-50" dirty="0">
                <a:latin typeface="Calibri"/>
              </a:rPr>
              <a:t>, LSL #</a:t>
            </a:r>
            <a:r>
              <a:rPr lang="en-US" sz="3100" spc="-50" dirty="0" smtClean="0">
                <a:latin typeface="Calibri"/>
              </a:rPr>
              <a:t>3  </a:t>
            </a:r>
            <a:r>
              <a:rPr lang="en-US" dirty="0" smtClean="0">
                <a:latin typeface="Arial"/>
              </a:rPr>
              <a:t>•    </a:t>
            </a:r>
            <a:r>
              <a:rPr lang="en-US" dirty="0">
                <a:latin typeface="Arial"/>
              </a:rPr>
              <a:t>; </a:t>
            </a:r>
            <a:r>
              <a:rPr lang="en-US" dirty="0" err="1">
                <a:latin typeface="Arial"/>
              </a:rPr>
              <a:t>Multiplicar</a:t>
            </a:r>
            <a:r>
              <a:rPr lang="en-US" dirty="0">
                <a:latin typeface="Arial"/>
              </a:rPr>
              <a:t> </a:t>
            </a:r>
            <a:r>
              <a:rPr lang="en-US" dirty="0" err="1">
                <a:latin typeface="Arial"/>
              </a:rPr>
              <a:t>por</a:t>
            </a:r>
            <a:r>
              <a:rPr lang="en-US" dirty="0">
                <a:latin typeface="Arial"/>
              </a:rPr>
              <a:t>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1576" y="1774732"/>
            <a:ext cx="6988848" cy="432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3525213" y="888066"/>
            <a:ext cx="5168515" cy="486056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>
                <a:latin typeface="Arial"/>
              </a:rPr>
              <a:t>Desplazamientos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920289" y="2668402"/>
            <a:ext cx="496455" cy="85444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spc="-50">
                <a:solidFill>
                  <a:srgbClr val="6A6A6A"/>
                </a:solidFill>
                <a:latin typeface="Calibri"/>
              </a:rPr>
              <a:t>00000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2606" y="2668402"/>
            <a:ext cx="502228" cy="79841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spc="-50">
                <a:solidFill>
                  <a:srgbClr val="6A6A6A"/>
                </a:solidFill>
                <a:latin typeface="Calibri"/>
              </a:rPr>
              <a:t>ooooo</a:t>
            </a: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3819622" y="2996174"/>
            <a:ext cx="717742" cy="8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100" b="1">
                <a:solidFill>
                  <a:srgbClr val="999999"/>
                </a:solidFill>
                <a:latin typeface="Times New Roman" pitchFamily="18" charset="0"/>
              </a:rPr>
              <a:t>L«SL. #5</a:t>
            </a: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7729683" y="2996174"/>
            <a:ext cx="708121" cy="7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100" b="1">
                <a:solidFill>
                  <a:srgbClr val="999999"/>
                </a:solidFill>
                <a:latin typeface="Times New Roman" pitchFamily="18" charset="0"/>
              </a:rPr>
              <a:t>LSR #5</a:t>
            </a:r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auto">
          <a:xfrm>
            <a:off x="2947940" y="4147578"/>
            <a:ext cx="650394" cy="8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900">
                <a:solidFill>
                  <a:srgbClr val="6A6A6A"/>
                </a:solidFill>
                <a:latin typeface="Arial" charset="0"/>
              </a:rPr>
              <a:t>00000 0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1122" y="4469747"/>
            <a:ext cx="2312939" cy="102253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>
                <a:solidFill>
                  <a:srgbClr val="999999"/>
                </a:solidFill>
                <a:latin typeface="Times New Roman"/>
              </a:rPr>
              <a:t>ASR #5, </a:t>
            </a:r>
            <a:r>
              <a:rPr lang="en-US" sz="950" b="1">
                <a:solidFill>
                  <a:srgbClr val="6A6A6A"/>
                </a:solidFill>
                <a:latin typeface="Arial"/>
              </a:rPr>
              <a:t>negative operand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9546" y="4475350"/>
            <a:ext cx="2245592" cy="107856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50" b="1">
                <a:solidFill>
                  <a:srgbClr val="999999"/>
                </a:solidFill>
                <a:latin typeface="Arial"/>
              </a:rPr>
              <a:t>ASR #5, </a:t>
            </a:r>
            <a:r>
              <a:rPr lang="en-US" sz="950" b="1">
                <a:solidFill>
                  <a:srgbClr val="6A6A6A"/>
                </a:solidFill>
                <a:latin typeface="Arial"/>
              </a:rPr>
              <a:t>positive operand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19622" y="5943321"/>
            <a:ext cx="710045" cy="81243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b="1" spc="50">
                <a:solidFill>
                  <a:srgbClr val="999999"/>
                </a:solidFill>
                <a:latin typeface="Arial"/>
              </a:rPr>
              <a:t>ROR #5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7879" y="5960129"/>
            <a:ext cx="355985" cy="70037"/>
          </a:xfrm>
          <a:prstGeom prst="rect">
            <a:avLst/>
          </a:prstGeom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50" b="1" spc="50">
                <a:solidFill>
                  <a:srgbClr val="888888"/>
                </a:solidFill>
                <a:latin typeface="Arial"/>
              </a:rPr>
              <a:t>RRX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0709" y="2286001"/>
            <a:ext cx="10946674" cy="900673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hangingPunct="1">
              <a:spcAft>
                <a:spcPts val="1263"/>
              </a:spcAft>
            </a:pPr>
            <a:r>
              <a:rPr lang="en-US" sz="3900" b="1" dirty="0" err="1">
                <a:latin typeface="Arial" charset="0"/>
              </a:rPr>
              <a:t>Instrucciones</a:t>
            </a:r>
            <a:r>
              <a:rPr lang="en-US" sz="3900" b="1" dirty="0">
                <a:latin typeface="Arial" charset="0"/>
              </a:rPr>
              <a:t> de </a:t>
            </a:r>
            <a:r>
              <a:rPr lang="en-US" sz="3900" b="1" dirty="0" err="1" smtClean="0">
                <a:latin typeface="Arial" charset="0"/>
              </a:rPr>
              <a:t>transferencia</a:t>
            </a:r>
            <a:r>
              <a:rPr lang="en-US" sz="3900" b="1" dirty="0">
                <a:latin typeface="Arial" charset="0"/>
              </a:rPr>
              <a:t> </a:t>
            </a:r>
            <a:r>
              <a:rPr lang="en-US" sz="3900" b="1" dirty="0" smtClean="0">
                <a:latin typeface="Arial" charset="0"/>
              </a:rPr>
              <a:t>de </a:t>
            </a:r>
            <a:r>
              <a:rPr lang="en-US" sz="3900" b="1" dirty="0" err="1">
                <a:latin typeface="Arial" charset="0"/>
              </a:rPr>
              <a:t>datos</a:t>
            </a:r>
            <a:endParaRPr lang="en-US" sz="3900" b="1" dirty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9152" y="1256461"/>
            <a:ext cx="7362152" cy="702968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 dirty="0" err="1">
                <a:latin typeface="Arial"/>
              </a:rPr>
              <a:t>Transferencias</a:t>
            </a:r>
            <a:r>
              <a:rPr lang="en-US" sz="4300" spc="-50" dirty="0">
                <a:latin typeface="Arial"/>
              </a:rPr>
              <a:t> de </a:t>
            </a:r>
            <a:r>
              <a:rPr lang="en-US" sz="4300" spc="-50" dirty="0" err="1">
                <a:latin typeface="Arial"/>
              </a:rPr>
              <a:t>Datos</a:t>
            </a:r>
            <a:endParaRPr lang="en-US" sz="4300" spc="-50" dirty="0"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00909" y="2269190"/>
            <a:ext cx="3094182" cy="1963175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3200">
                <a:latin typeface="Arial"/>
              </a:rPr>
              <a:t>• Movimiento</a:t>
            </a:r>
          </a:p>
          <a:p>
            <a:pPr marL="457200" algn="just" eaLnBrk="1" fontAlgn="auto" hangingPunct="1"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3100" spc="-50">
                <a:latin typeface="Calibri"/>
              </a:rPr>
              <a:t>-    MOV r0,r2</a:t>
            </a:r>
          </a:p>
          <a:p>
            <a:pPr marL="4572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 spc="-50">
                <a:latin typeface="Calibri"/>
              </a:rPr>
              <a:t>-    MVN r0,r2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0138" y="3597717"/>
            <a:ext cx="2203257" cy="477894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 spc="-50" dirty="0">
                <a:latin typeface="Calibri"/>
              </a:rPr>
              <a:t>; r0:= not r2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9152" y="1040747"/>
            <a:ext cx="7362152" cy="850246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1050"/>
              </a:spcAft>
              <a:defRPr/>
            </a:pPr>
            <a:r>
              <a:rPr lang="en-US" sz="4300" spc="-50">
                <a:latin typeface="Arial"/>
              </a:rPr>
              <a:t>Transferencias de Datos</a:t>
            </a:r>
          </a:p>
          <a:p>
            <a:pPr algn="ctr" eaLnBrk="1" fontAlgn="auto" hangingPunct="1">
              <a:spcBef>
                <a:spcPts val="0"/>
              </a:spcBef>
              <a:spcAft>
                <a:spcPts val="2730"/>
              </a:spcAft>
              <a:defRPr/>
            </a:pPr>
            <a:r>
              <a:rPr lang="en-US" sz="3200">
                <a:latin typeface="Arial"/>
              </a:rPr>
              <a:t>LDR</a:t>
            </a:r>
          </a:p>
        </p:txBody>
      </p:sp>
      <p:sp>
        <p:nvSpPr>
          <p:cNvPr id="40963" name="Rectangle 2"/>
          <p:cNvSpPr>
            <a:spLocks noChangeArrowheads="1"/>
          </p:cNvSpPr>
          <p:nvPr/>
        </p:nvSpPr>
        <p:spPr bwMode="auto">
          <a:xfrm>
            <a:off x="1212273" y="2353235"/>
            <a:ext cx="9790545" cy="134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 eaLnBrk="1" hangingPunct="1"/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31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   </a:t>
            </a:r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28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</a:t>
            </a:r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27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</a:t>
            </a:r>
            <a:r>
              <a:rPr lang="en-US" sz="1300" i="1">
                <a:solidFill>
                  <a:srgbClr val="2A1726"/>
                </a:solidFill>
                <a:latin typeface="Times New Roman" pitchFamily="18" charset="0"/>
              </a:rPr>
              <a:t>26 25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</a:t>
            </a:r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24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</a:t>
            </a:r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23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</a:t>
            </a:r>
            <a:r>
              <a:rPr lang="en-US" sz="1300">
                <a:latin typeface="Times New Roman" pitchFamily="18" charset="0"/>
              </a:rPr>
              <a:t>22</a:t>
            </a:r>
            <a:r>
              <a:rPr lang="en-US" sz="1000">
                <a:latin typeface="Times New Roman" pitchFamily="18" charset="0"/>
              </a:rPr>
              <a:t> </a:t>
            </a:r>
            <a:r>
              <a:rPr lang="en-US" sz="1300">
                <a:latin typeface="Times New Roman" pitchFamily="18" charset="0"/>
              </a:rPr>
              <a:t>21</a:t>
            </a:r>
            <a:r>
              <a:rPr lang="en-US" sz="1000">
                <a:latin typeface="Times New Roman" pitchFamily="18" charset="0"/>
              </a:rPr>
              <a:t> </a:t>
            </a:r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20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</a:t>
            </a:r>
            <a:r>
              <a:rPr lang="en-US" sz="1300" i="1">
                <a:solidFill>
                  <a:srgbClr val="2A1726"/>
                </a:solidFill>
                <a:latin typeface="Times New Roman" pitchFamily="18" charset="0"/>
              </a:rPr>
              <a:t>19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   </a:t>
            </a:r>
            <a:r>
              <a:rPr lang="en-US" sz="1300">
                <a:latin typeface="Times New Roman" pitchFamily="18" charset="0"/>
              </a:rPr>
              <a:t>16</a:t>
            </a:r>
            <a:r>
              <a:rPr lang="en-US" sz="1000">
                <a:latin typeface="Times New Roman" pitchFamily="18" charset="0"/>
              </a:rPr>
              <a:t> </a:t>
            </a:r>
            <a:r>
              <a:rPr lang="en-US" sz="1300">
                <a:latin typeface="Times New Roman" pitchFamily="18" charset="0"/>
              </a:rPr>
              <a:t>15</a:t>
            </a:r>
            <a:r>
              <a:rPr lang="en-US" sz="1000">
                <a:latin typeface="Times New Roman" pitchFamily="18" charset="0"/>
              </a:rPr>
              <a:t>    </a:t>
            </a:r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12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</a:t>
            </a:r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11</a:t>
            </a:r>
            <a:r>
              <a:rPr lang="en-US" sz="1000">
                <a:solidFill>
                  <a:srgbClr val="2A1726"/>
                </a:solidFill>
                <a:latin typeface="Times New Roman" pitchFamily="18" charset="0"/>
              </a:rPr>
              <a:t>    </a:t>
            </a:r>
            <a:r>
              <a:rPr lang="en-US" sz="1300">
                <a:solidFill>
                  <a:srgbClr val="2A1726"/>
                </a:solidFill>
                <a:latin typeface="Times New Roman" pitchFamily="18" charset="0"/>
              </a:rPr>
              <a:t>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52622" y="2504515"/>
          <a:ext cx="9964189" cy="580913"/>
        </p:xfrm>
        <a:graphic>
          <a:graphicData uri="http://schemas.openxmlformats.org/drawingml/2006/table">
            <a:tbl>
              <a:tblPr/>
              <a:tblGrid>
                <a:gridCol w="12524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437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03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1403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103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103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1403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1034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233978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23767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746269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330798">
                <a:tc>
                  <a:txBody>
                    <a:bodyPr/>
                    <a:lstStyle/>
                    <a:p>
                      <a:pPr indent="0" algn="ctr"/>
                      <a:r>
                        <a:rPr lang="en-US" sz="1100" b="1" spc="-50">
                          <a:latin typeface="Arial"/>
                        </a:rPr>
                        <a:t>COlld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>
                          <a:latin typeface="Arial"/>
                        </a:rPr>
                        <a:t>0</a:t>
                      </a:r>
                      <a:r>
                        <a:rPr lang="en-US" sz="1100" b="1" spc="-50">
                          <a:latin typeface="Arial"/>
                        </a:rPr>
                        <a:t> </a:t>
                      </a:r>
                      <a:r>
                        <a:rPr lang="en-US" sz="1100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 b="1" spc="-50">
                          <a:latin typeface="Arial"/>
                        </a:rPr>
                        <a:t>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 spc="-50">
                          <a:latin typeface="Arial"/>
                        </a:rPr>
                        <a:t>P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 spc="-50">
                          <a:latin typeface="Arial"/>
                        </a:rPr>
                        <a:t>u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100">
                          <a:solidFill>
                            <a:srgbClr val="332D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100" b="1" spc="-50">
                          <a:latin typeface="Arial"/>
                        </a:rPr>
                        <a:t>w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100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100" b="1" spc="-50">
                          <a:latin typeface="Arial"/>
                        </a:rPr>
                        <a:t>Rii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100" b="1" spc="-50">
                          <a:solidFill>
                            <a:srgbClr val="150E18"/>
                          </a:solidFill>
                          <a:latin typeface="Arial"/>
                        </a:rPr>
                        <a:t>Rd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100" b="1" spc="-50">
                          <a:solidFill>
                            <a:srgbClr val="150E18"/>
                          </a:solidFill>
                          <a:latin typeface="Arial"/>
                        </a:rPr>
                        <a:t>addr mode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0115"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1002" name="Rectangle 4"/>
          <p:cNvSpPr>
            <a:spLocks noChangeArrowheads="1"/>
          </p:cNvSpPr>
          <p:nvPr/>
        </p:nvSpPr>
        <p:spPr bwMode="auto">
          <a:xfrm>
            <a:off x="975592" y="3378574"/>
            <a:ext cx="827424" cy="162905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LDR</a:t>
            </a:r>
          </a:p>
          <a:p>
            <a:pPr eaLnBrk="1" hangingPunct="1">
              <a:lnSpc>
                <a:spcPts val="2163"/>
              </a:lnSpc>
            </a:pPr>
            <a:r>
              <a:rPr lang="en-US" dirty="0" smtClean="0">
                <a:latin typeface="Arial" charset="0"/>
              </a:rPr>
              <a:t>LDR</a:t>
            </a:r>
            <a:endParaRPr lang="en-US" dirty="0">
              <a:latin typeface="Arial" charset="0"/>
            </a:endParaRPr>
          </a:p>
          <a:p>
            <a:pPr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LDRH</a:t>
            </a:r>
          </a:p>
          <a:p>
            <a:pPr eaLnBrk="1" hangingPunct="1">
              <a:lnSpc>
                <a:spcPts val="2163"/>
              </a:lnSpc>
            </a:pPr>
            <a:r>
              <a:rPr lang="en-US" dirty="0" smtClean="0">
                <a:latin typeface="Arial" charset="0"/>
              </a:rPr>
              <a:t>LDRB</a:t>
            </a:r>
            <a:endParaRPr lang="en-US" dirty="0">
              <a:latin typeface="Arial" charset="0"/>
            </a:endParaRPr>
          </a:p>
          <a:p>
            <a:pPr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LDR</a:t>
            </a:r>
          </a:p>
          <a:p>
            <a:pPr eaLnBrk="1" hangingPunct="1">
              <a:lnSpc>
                <a:spcPts val="2163"/>
              </a:lnSpc>
            </a:pPr>
            <a:endParaRPr lang="en-US" dirty="0">
              <a:latin typeface="Arial" charset="0"/>
            </a:endParaRPr>
          </a:p>
        </p:txBody>
      </p:sp>
      <p:sp>
        <p:nvSpPr>
          <p:cNvPr id="41003" name="Rectangle 5"/>
          <p:cNvSpPr>
            <a:spLocks noChangeArrowheads="1"/>
          </p:cNvSpPr>
          <p:nvPr/>
        </p:nvSpPr>
        <p:spPr bwMode="auto">
          <a:xfrm>
            <a:off x="1831879" y="3378573"/>
            <a:ext cx="2217607" cy="1182221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indent="254000"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r0,[</a:t>
            </a:r>
            <a:r>
              <a:rPr lang="en-US" dirty="0" smtClean="0">
                <a:latin typeface="Arial" charset="0"/>
              </a:rPr>
              <a:t>r1]</a:t>
            </a:r>
          </a:p>
          <a:p>
            <a:pPr indent="254000" eaLnBrk="1" hangingPunct="1">
              <a:lnSpc>
                <a:spcPts val="2163"/>
              </a:lnSpc>
            </a:pPr>
            <a:r>
              <a:rPr lang="en-US" dirty="0" smtClean="0">
                <a:latin typeface="Arial" charset="0"/>
              </a:rPr>
              <a:t>R4, [R2, #4] R4,     [ R2, [R1,#5]</a:t>
            </a:r>
            <a:endParaRPr lang="en-US" dirty="0">
              <a:latin typeface="Arial" charset="0"/>
            </a:endParaRPr>
          </a:p>
        </p:txBody>
      </p:sp>
      <p:sp>
        <p:nvSpPr>
          <p:cNvPr id="41004" name="Rectangle 6"/>
          <p:cNvSpPr>
            <a:spLocks noChangeArrowheads="1"/>
          </p:cNvSpPr>
          <p:nvPr/>
        </p:nvSpPr>
        <p:spPr bwMode="auto">
          <a:xfrm>
            <a:off x="4605605" y="3378574"/>
            <a:ext cx="1899228" cy="214313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dirty="0" err="1">
                <a:latin typeface="Arial" charset="0"/>
              </a:rPr>
              <a:t>rO</a:t>
            </a:r>
            <a:r>
              <a:rPr lang="en-US" dirty="0">
                <a:latin typeface="Arial" charset="0"/>
              </a:rPr>
              <a:t> := mem</a:t>
            </a:r>
            <a:r>
              <a:rPr lang="en-US" baseline="-25000" dirty="0">
                <a:latin typeface="Arial" charset="0"/>
              </a:rPr>
              <a:t>32</a:t>
            </a:r>
            <a:r>
              <a:rPr lang="en-US" dirty="0">
                <a:latin typeface="Arial" charset="0"/>
              </a:rPr>
              <a:t>[r1]</a:t>
            </a:r>
          </a:p>
        </p:txBody>
      </p:sp>
      <p:sp>
        <p:nvSpPr>
          <p:cNvPr id="41005" name="Rectangle 7"/>
          <p:cNvSpPr>
            <a:spLocks noChangeArrowheads="1"/>
          </p:cNvSpPr>
          <p:nvPr/>
        </p:nvSpPr>
        <p:spPr bwMode="auto">
          <a:xfrm>
            <a:off x="4568042" y="3636309"/>
            <a:ext cx="6078187" cy="1027131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lnSpc>
                <a:spcPts val="2163"/>
              </a:lnSpc>
            </a:pPr>
            <a:r>
              <a:rPr lang="en-US" dirty="0" err="1">
                <a:latin typeface="Arial" charset="0"/>
              </a:rPr>
              <a:t>Carga</a:t>
            </a:r>
            <a:r>
              <a:rPr lang="en-US" dirty="0">
                <a:latin typeface="Arial" charset="0"/>
              </a:rPr>
              <a:t> word en R4 </a:t>
            </a:r>
            <a:r>
              <a:rPr lang="en-US" dirty="0" err="1">
                <a:latin typeface="Arial" charset="0"/>
              </a:rPr>
              <a:t>desde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direc</a:t>
            </a:r>
            <a:r>
              <a:rPr lang="en-US" dirty="0">
                <a:latin typeface="Arial" charset="0"/>
              </a:rPr>
              <a:t> R2 + 4 </a:t>
            </a:r>
            <a:r>
              <a:rPr lang="en-US" dirty="0" err="1">
                <a:latin typeface="Arial" charset="0"/>
              </a:rPr>
              <a:t>Carga</a:t>
            </a:r>
            <a:r>
              <a:rPr lang="en-US" dirty="0">
                <a:latin typeface="Arial" charset="0"/>
              </a:rPr>
              <a:t> word en R4 </a:t>
            </a:r>
            <a:r>
              <a:rPr lang="en-US" dirty="0" err="1" smtClean="0">
                <a:latin typeface="Arial" charset="0"/>
              </a:rPr>
              <a:t>Carga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byte en R2 </a:t>
            </a:r>
            <a:r>
              <a:rPr lang="en-US" dirty="0" err="1">
                <a:latin typeface="Arial" charset="0"/>
              </a:rPr>
              <a:t>desde</a:t>
            </a:r>
            <a:r>
              <a:rPr lang="en-US" dirty="0">
                <a:latin typeface="Arial" charset="0"/>
              </a:rPr>
              <a:t> R1 + 5 </a:t>
            </a:r>
          </a:p>
        </p:txBody>
      </p:sp>
      <p:sp>
        <p:nvSpPr>
          <p:cNvPr id="41006" name="Rectangle 8"/>
          <p:cNvSpPr>
            <a:spLocks noChangeArrowheads="1"/>
          </p:cNvSpPr>
          <p:nvPr/>
        </p:nvSpPr>
        <p:spPr bwMode="auto">
          <a:xfrm>
            <a:off x="1852372" y="4238454"/>
            <a:ext cx="5972848" cy="432827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R6, [PC, #0x3FC] ; </a:t>
            </a:r>
            <a:r>
              <a:rPr lang="en-US" dirty="0" smtClean="0">
                <a:latin typeface="Arial" charset="0"/>
              </a:rPr>
              <a:t>	</a:t>
            </a:r>
            <a:r>
              <a:rPr lang="en-US" dirty="0" err="1" smtClean="0">
                <a:latin typeface="Arial" charset="0"/>
              </a:rPr>
              <a:t>Carga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R6 </a:t>
            </a:r>
            <a:r>
              <a:rPr lang="en-US" dirty="0" err="1">
                <a:latin typeface="Arial" charset="0"/>
              </a:rPr>
              <a:t>desde</a:t>
            </a:r>
            <a:r>
              <a:rPr lang="en-US" dirty="0">
                <a:latin typeface="Arial" charset="0"/>
              </a:rPr>
              <a:t> PC + 0x3FC R5, [SP, #64] </a:t>
            </a:r>
            <a:r>
              <a:rPr lang="en-US" dirty="0" smtClean="0">
                <a:latin typeface="Arial" charset="0"/>
              </a:rPr>
              <a:t>; 		</a:t>
            </a:r>
            <a:r>
              <a:rPr lang="en-US" dirty="0" err="1" smtClean="0">
                <a:latin typeface="Arial" charset="0"/>
              </a:rPr>
              <a:t>Carga</a:t>
            </a:r>
            <a:r>
              <a:rPr lang="en-US" dirty="0" smtClean="0">
                <a:latin typeface="Arial" charset="0"/>
              </a:rPr>
              <a:t> </a:t>
            </a:r>
            <a:r>
              <a:rPr lang="en-US" dirty="0">
                <a:latin typeface="Arial" charset="0"/>
              </a:rPr>
              <a:t>R5 </a:t>
            </a:r>
            <a:r>
              <a:rPr lang="en-US" dirty="0" err="1">
                <a:latin typeface="Arial" charset="0"/>
              </a:rPr>
              <a:t>desde</a:t>
            </a:r>
            <a:r>
              <a:rPr lang="en-US" dirty="0">
                <a:latin typeface="Arial" charset="0"/>
              </a:rPr>
              <a:t> SP + 64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08364" y="1040747"/>
            <a:ext cx="9694333" cy="2613772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ctr" eaLnBrk="1" hangingPunct="1">
              <a:spcAft>
                <a:spcPts val="1050"/>
              </a:spcAft>
            </a:pPr>
            <a:r>
              <a:rPr lang="en-US" sz="4300">
                <a:latin typeface="Arial" charset="0"/>
              </a:rPr>
              <a:t>Transferencias de Datos</a:t>
            </a:r>
          </a:p>
          <a:p>
            <a:pPr algn="ctr" eaLnBrk="1" hangingPunct="1">
              <a:spcAft>
                <a:spcPts val="4413"/>
              </a:spcAft>
            </a:pPr>
            <a:r>
              <a:rPr lang="en-US" sz="3200">
                <a:latin typeface="Arial" charset="0"/>
              </a:rPr>
              <a:t>Pre y post indexado</a:t>
            </a:r>
          </a:p>
          <a:p>
            <a:pPr algn="just" eaLnBrk="1" hangingPunct="1">
              <a:spcAft>
                <a:spcPts val="3150"/>
              </a:spcAft>
            </a:pPr>
            <a:r>
              <a:rPr lang="en-US" sz="3100"/>
              <a:t>LDR r0,[r1,#4]    ; rO := men32[r1+ 4]</a:t>
            </a:r>
          </a:p>
          <a:p>
            <a:pPr algn="just" eaLnBrk="1" hangingPunct="1"/>
            <a:r>
              <a:rPr lang="en-US" sz="3100"/>
              <a:t>LDR r0,[r1,#4]!    ; rO := mem32[r1+ 4]; r1 := r1 + 4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9152" y="1040747"/>
            <a:ext cx="7362152" cy="853047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r" eaLnBrk="1" fontAlgn="auto" hangingPunct="1">
              <a:spcBef>
                <a:spcPts val="0"/>
              </a:spcBef>
              <a:spcAft>
                <a:spcPts val="1050"/>
              </a:spcAft>
              <a:defRPr/>
            </a:pPr>
            <a:r>
              <a:rPr lang="en-US" sz="4300" spc="-50" dirty="0" err="1">
                <a:latin typeface="Arial"/>
              </a:rPr>
              <a:t>Transferencias</a:t>
            </a:r>
            <a:r>
              <a:rPr lang="en-US" sz="4300" spc="-50" dirty="0">
                <a:latin typeface="Arial"/>
              </a:rPr>
              <a:t> de </a:t>
            </a:r>
            <a:r>
              <a:rPr lang="en-US" sz="4300" spc="-50" dirty="0" err="1" smtClean="0">
                <a:latin typeface="Arial"/>
              </a:rPr>
              <a:t>Datos</a:t>
            </a:r>
            <a:r>
              <a:rPr lang="en-US" sz="4300" spc="-50" dirty="0" smtClean="0">
                <a:latin typeface="Arial"/>
              </a:rPr>
              <a:t> </a:t>
            </a:r>
            <a:r>
              <a:rPr lang="en-US" sz="3200" dirty="0" smtClean="0">
                <a:latin typeface="Arial"/>
              </a:rPr>
              <a:t>STR</a:t>
            </a:r>
            <a:endParaRPr lang="en-US" sz="3200" dirty="0">
              <a:latin typeface="Arial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18107" y="2346498"/>
          <a:ext cx="9446952" cy="960120"/>
        </p:xfrm>
        <a:graphic>
          <a:graphicData uri="http://schemas.openxmlformats.org/drawingml/2006/table">
            <a:tbl>
              <a:tblPr/>
              <a:tblGrid>
                <a:gridCol w="12302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63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186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9186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9186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9186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8078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9556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116747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17117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55784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</a:tblGrid>
              <a:tr h="255494">
                <a:tc gridSpan="11">
                  <a:txBody>
                    <a:bodyPr/>
                    <a:lstStyle/>
                    <a:p>
                      <a:pPr marL="101600" indent="0"/>
                      <a:r>
                        <a:rPr lang="en-US" sz="1000">
                          <a:solidFill>
                            <a:srgbClr val="2A1726"/>
                          </a:solidFill>
                          <a:latin typeface="Times New Roman"/>
                        </a:rPr>
                        <a:t>31 28 27 26 25 24 23 22 21 20 19 16 15 12 11 0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4626"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>
                          <a:solidFill>
                            <a:srgbClr val="150E18"/>
                          </a:solidFill>
                          <a:latin typeface="Times New Roman"/>
                        </a:rPr>
                        <a:t>cond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000">
                          <a:solidFill>
                            <a:srgbClr val="150E18"/>
                          </a:solidFill>
                          <a:latin typeface="Times New Roman"/>
                        </a:rPr>
                        <a:t>0 </a:t>
                      </a:r>
                      <a:r>
                        <a:rPr lang="en-US" sz="1000">
                          <a:latin typeface="Times New Roman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000">
                          <a:latin typeface="Times New Roman"/>
                        </a:rPr>
                        <a:t>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000">
                          <a:latin typeface="Times New Roman"/>
                        </a:rPr>
                        <a:t>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600">
                          <a:solidFill>
                            <a:srgbClr val="150E18"/>
                          </a:solidFill>
                          <a:latin typeface="Arial"/>
                        </a:rPr>
                        <a:t>u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000">
                          <a:solidFill>
                            <a:srgbClr val="150E18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600">
                          <a:latin typeface="Arial"/>
                        </a:rPr>
                        <a:t>w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000">
                          <a:solidFill>
                            <a:srgbClr val="332D3A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dirty="0" err="1">
                          <a:latin typeface="Arial"/>
                        </a:rPr>
                        <a:t>Rii</a:t>
                      </a:r>
                      <a:endParaRPr lang="en-US" sz="1600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>
                          <a:latin typeface="Times New Roman"/>
                        </a:rPr>
                        <a:t>Rd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 dirty="0" err="1">
                          <a:solidFill>
                            <a:srgbClr val="2A1726"/>
                          </a:solidFill>
                          <a:latin typeface="Times New Roman"/>
                        </a:rPr>
                        <a:t>addrmode</a:t>
                      </a:r>
                      <a:endParaRPr lang="en-US" sz="1000" dirty="0">
                        <a:solidFill>
                          <a:srgbClr val="2A1726"/>
                        </a:solidFill>
                        <a:latin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3039" name="Rectangle 3"/>
          <p:cNvSpPr>
            <a:spLocks noChangeArrowheads="1"/>
          </p:cNvSpPr>
          <p:nvPr/>
        </p:nvSpPr>
        <p:spPr bwMode="auto">
          <a:xfrm>
            <a:off x="787016" y="3623969"/>
            <a:ext cx="8557105" cy="1187824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1" hangingPunct="1">
              <a:lnSpc>
                <a:spcPts val="2163"/>
              </a:lnSpc>
              <a:spcBef>
                <a:spcPts val="1888"/>
              </a:spcBef>
            </a:pPr>
            <a:r>
              <a:rPr lang="en-US" dirty="0">
                <a:latin typeface="Arial" charset="0"/>
              </a:rPr>
              <a:t>STR r0,[r1]    ; mem</a:t>
            </a:r>
            <a:r>
              <a:rPr lang="en-US" baseline="-25000" dirty="0">
                <a:latin typeface="Arial" charset="0"/>
              </a:rPr>
              <a:t>32</a:t>
            </a:r>
            <a:r>
              <a:rPr lang="en-US" dirty="0">
                <a:latin typeface="Arial" charset="0"/>
              </a:rPr>
              <a:t>[r1] := </a:t>
            </a:r>
            <a:r>
              <a:rPr lang="en-US" dirty="0" err="1">
                <a:latin typeface="Arial" charset="0"/>
              </a:rPr>
              <a:t>rO</a:t>
            </a:r>
            <a:endParaRPr lang="en-US" dirty="0">
              <a:latin typeface="Arial" charset="0"/>
            </a:endParaRPr>
          </a:p>
          <a:p>
            <a:pPr algn="just"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STR    RO,    [R7, #0x7C]    ;    </a:t>
            </a:r>
            <a:r>
              <a:rPr lang="en-US" dirty="0" err="1">
                <a:latin typeface="Arial" charset="0"/>
              </a:rPr>
              <a:t>Guarda</a:t>
            </a:r>
            <a:r>
              <a:rPr lang="en-US" dirty="0">
                <a:latin typeface="Arial" charset="0"/>
              </a:rPr>
              <a:t> word </a:t>
            </a:r>
            <a:r>
              <a:rPr lang="en-US" dirty="0" err="1">
                <a:latin typeface="Arial" charset="0"/>
              </a:rPr>
              <a:t>desde</a:t>
            </a:r>
            <a:r>
              <a:rPr lang="en-US" dirty="0">
                <a:latin typeface="Arial" charset="0"/>
              </a:rPr>
              <a:t> RO a </a:t>
            </a:r>
            <a:r>
              <a:rPr lang="en-US" dirty="0" err="1">
                <a:latin typeface="Arial" charset="0"/>
              </a:rPr>
              <a:t>direc</a:t>
            </a:r>
            <a:r>
              <a:rPr lang="en-US" dirty="0">
                <a:latin typeface="Arial" charset="0"/>
              </a:rPr>
              <a:t>. R7 + 124</a:t>
            </a:r>
          </a:p>
          <a:p>
            <a:pPr algn="just"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STRB    R1,    [R5, #31]    ;    </a:t>
            </a:r>
            <a:r>
              <a:rPr lang="en-US" dirty="0" err="1">
                <a:latin typeface="Arial" charset="0"/>
              </a:rPr>
              <a:t>Guarda</a:t>
            </a:r>
            <a:r>
              <a:rPr lang="en-US" dirty="0">
                <a:latin typeface="Arial" charset="0"/>
              </a:rPr>
              <a:t> byte </a:t>
            </a:r>
            <a:r>
              <a:rPr lang="en-US" dirty="0" err="1">
                <a:latin typeface="Arial" charset="0"/>
              </a:rPr>
              <a:t>desde</a:t>
            </a:r>
            <a:r>
              <a:rPr lang="en-US" dirty="0">
                <a:latin typeface="Arial" charset="0"/>
              </a:rPr>
              <a:t> R1 a </a:t>
            </a:r>
            <a:r>
              <a:rPr lang="en-US" dirty="0" err="1">
                <a:latin typeface="Arial" charset="0"/>
              </a:rPr>
              <a:t>direc</a:t>
            </a:r>
            <a:r>
              <a:rPr lang="en-US" dirty="0">
                <a:latin typeface="Arial" charset="0"/>
              </a:rPr>
              <a:t>. R5 + 31</a:t>
            </a:r>
          </a:p>
          <a:p>
            <a:pPr algn="just"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STRH    R4,    [R2, R3]    ;    </a:t>
            </a:r>
            <a:r>
              <a:rPr lang="en-US" dirty="0" err="1">
                <a:latin typeface="Arial" charset="0"/>
              </a:rPr>
              <a:t>Guarda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halfword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desde</a:t>
            </a:r>
            <a:r>
              <a:rPr lang="en-US" dirty="0">
                <a:latin typeface="Arial" charset="0"/>
              </a:rPr>
              <a:t> R4 a dir R2 + R3</a:t>
            </a:r>
          </a:p>
          <a:p>
            <a:pPr algn="just" eaLnBrk="1" hangingPunct="1">
              <a:lnSpc>
                <a:spcPts val="2163"/>
              </a:lnSpc>
            </a:pPr>
            <a:r>
              <a:rPr lang="en-US" dirty="0">
                <a:latin typeface="Arial" charset="0"/>
              </a:rPr>
              <a:t>STR    R4,    [SP, #0x260]    ;    </a:t>
            </a:r>
            <a:r>
              <a:rPr lang="en-US" dirty="0" err="1">
                <a:latin typeface="Arial" charset="0"/>
              </a:rPr>
              <a:t>Guarda</a:t>
            </a:r>
            <a:r>
              <a:rPr lang="en-US" dirty="0">
                <a:latin typeface="Arial" charset="0"/>
              </a:rPr>
              <a:t> R4 a </a:t>
            </a:r>
            <a:r>
              <a:rPr lang="en-US" dirty="0" err="1">
                <a:latin typeface="Arial" charset="0"/>
              </a:rPr>
              <a:t>direc</a:t>
            </a:r>
            <a:r>
              <a:rPr lang="en-US" dirty="0">
                <a:latin typeface="Arial" charset="0"/>
              </a:rPr>
              <a:t>. SP + 0x260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5955" y="1256460"/>
            <a:ext cx="3987030" cy="491658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>
                <a:latin typeface="Arial"/>
              </a:rPr>
              <a:t>PUSH y POP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8774" y="2379850"/>
            <a:ext cx="8564802" cy="2542334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hangingPunct="1">
              <a:spcAft>
                <a:spcPts val="2725"/>
              </a:spcAft>
            </a:pPr>
            <a:r>
              <a:rPr lang="en-US" sz="2100">
                <a:latin typeface="Arial" charset="0"/>
              </a:rPr>
              <a:t>Funcion:</a:t>
            </a:r>
          </a:p>
          <a:p>
            <a:pPr eaLnBrk="1" hangingPunct="1">
              <a:lnSpc>
                <a:spcPts val="2850"/>
              </a:lnSpc>
            </a:pPr>
            <a:r>
              <a:rPr lang="en-US" sz="2100">
                <a:latin typeface="Arial" charset="0"/>
              </a:rPr>
              <a:t>PUSH {R0-R7, LR} ; push al stack (R13) R0-R7 y la</a:t>
            </a:r>
          </a:p>
          <a:p>
            <a:pPr eaLnBrk="1" hangingPunct="1">
              <a:lnSpc>
                <a:spcPts val="2850"/>
              </a:lnSpc>
              <a:spcAft>
                <a:spcPts val="1888"/>
              </a:spcAft>
            </a:pPr>
            <a:r>
              <a:rPr lang="en-US" sz="2100">
                <a:latin typeface="Arial" charset="0"/>
              </a:rPr>
              <a:t>; direction de retorno ; Cuerpo de la funcion</a:t>
            </a:r>
          </a:p>
          <a:p>
            <a:pPr eaLnBrk="1" hangingPunct="1">
              <a:spcAft>
                <a:spcPts val="625"/>
              </a:spcAft>
            </a:pPr>
            <a:r>
              <a:rPr lang="en-US" sz="2100">
                <a:latin typeface="Arial" charset="0"/>
              </a:rPr>
              <a:t>POP {R0-R7, PC}; restaura R0-R7 del stack</a:t>
            </a:r>
          </a:p>
          <a:p>
            <a:pPr eaLnBrk="1" hangingPunct="1"/>
            <a:r>
              <a:rPr lang="en-US" sz="2100">
                <a:latin typeface="Arial" charset="0"/>
              </a:rPr>
              <a:t>; y el PC y retorna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ChangeArrowheads="1"/>
          </p:cNvSpPr>
          <p:nvPr/>
        </p:nvSpPr>
        <p:spPr bwMode="auto">
          <a:xfrm>
            <a:off x="4300683" y="1143000"/>
            <a:ext cx="3619499" cy="373997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4300"/>
              <a:t>Uso de la Pila</a:t>
            </a:r>
          </a:p>
        </p:txBody>
      </p:sp>
      <p:sp>
        <p:nvSpPr>
          <p:cNvPr id="49155" name="Rectangle 2"/>
          <p:cNvSpPr>
            <a:spLocks noChangeArrowheads="1"/>
          </p:cNvSpPr>
          <p:nvPr/>
        </p:nvSpPr>
        <p:spPr bwMode="auto">
          <a:xfrm>
            <a:off x="1493213" y="2312614"/>
            <a:ext cx="7902864" cy="1253658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1" hangingPunct="1">
              <a:lnSpc>
                <a:spcPts val="2850"/>
              </a:lnSpc>
            </a:pPr>
            <a:r>
              <a:rPr lang="en-US" sz="2100">
                <a:latin typeface="Arial" charset="0"/>
              </a:rPr>
              <a:t>•    STMFD / LDMFD : Full Descending stack</a:t>
            </a:r>
          </a:p>
          <a:p>
            <a:pPr algn="just" eaLnBrk="1" hangingPunct="1">
              <a:lnSpc>
                <a:spcPts val="2850"/>
              </a:lnSpc>
            </a:pPr>
            <a:r>
              <a:rPr lang="en-US" sz="2100">
                <a:latin typeface="Arial" charset="0"/>
              </a:rPr>
              <a:t>•    STMFA/ LDMFA: Full Ascending stack.</a:t>
            </a:r>
          </a:p>
          <a:p>
            <a:pPr algn="just" eaLnBrk="1" hangingPunct="1">
              <a:lnSpc>
                <a:spcPts val="2850"/>
              </a:lnSpc>
            </a:pPr>
            <a:r>
              <a:rPr lang="en-US" sz="2100">
                <a:latin typeface="Arial" charset="0"/>
              </a:rPr>
              <a:t>•    STMED / LDMED : Empty Descending stack</a:t>
            </a:r>
          </a:p>
          <a:p>
            <a:pPr algn="just" eaLnBrk="1" hangingPunct="1">
              <a:lnSpc>
                <a:spcPts val="2850"/>
              </a:lnSpc>
            </a:pPr>
            <a:r>
              <a:rPr lang="en-US" sz="2100">
                <a:latin typeface="Arial" charset="0"/>
              </a:rPr>
              <a:t>•    STMEA/ LDMEA: Empty Ascending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2562" y="1826559"/>
            <a:ext cx="9979121" cy="4224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79" name="Rectangle 2"/>
          <p:cNvSpPr>
            <a:spLocks noChangeArrowheads="1"/>
          </p:cNvSpPr>
          <p:nvPr/>
        </p:nvSpPr>
        <p:spPr bwMode="auto">
          <a:xfrm>
            <a:off x="4289137" y="833438"/>
            <a:ext cx="3617576" cy="37399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4300"/>
              <a:t>Uso de la Pila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0258" y="1780335"/>
            <a:ext cx="9998364" cy="3116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3" name="Rectangle 2"/>
          <p:cNvSpPr>
            <a:spLocks noChangeArrowheads="1"/>
          </p:cNvSpPr>
          <p:nvPr/>
        </p:nvSpPr>
        <p:spPr bwMode="auto">
          <a:xfrm>
            <a:off x="4485410" y="853049"/>
            <a:ext cx="3240424" cy="438430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4300"/>
              <a:t>PUSH y POP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1955" y="5214938"/>
            <a:ext cx="9388378" cy="558893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just" eaLnBrk="1" fontAlgn="auto" hangingPunct="1">
              <a:lnSpc>
                <a:spcPts val="2640"/>
              </a:lnSpc>
              <a:spcBef>
                <a:spcPts val="1890"/>
              </a:spcBef>
              <a:spcAft>
                <a:spcPts val="0"/>
              </a:spcAft>
              <a:defRPr/>
            </a:pPr>
            <a:r>
              <a:rPr lang="en-US" sz="2100">
                <a:latin typeface="Arial"/>
              </a:rPr>
              <a:t>PUSH {R0&gt;    ; R13 = R13 - 4, luego Memory[R13] &lt;- RO</a:t>
            </a:r>
          </a:p>
          <a:p>
            <a:pPr algn="just" eaLnBrk="1" fontAlgn="auto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>
                <a:latin typeface="Arial"/>
              </a:rPr>
              <a:t>POP {RO}    ; RO &lt;-Memory[R13], luego R13 </a:t>
            </a:r>
            <a:r>
              <a:rPr lang="en-US" sz="2100" spc="200">
                <a:latin typeface="Arial"/>
              </a:rPr>
              <a:t>=R13 + 4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99046" y="2742640"/>
            <a:ext cx="9018924" cy="460842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900" b="1" spc="-50">
                <a:latin typeface="Arial"/>
              </a:rPr>
              <a:t>Instrucciones de control de fluio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2970" y="2608169"/>
            <a:ext cx="10009909" cy="240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3" name="Rectangle 2"/>
          <p:cNvSpPr>
            <a:spLocks noChangeArrowheads="1"/>
          </p:cNvSpPr>
          <p:nvPr/>
        </p:nvSpPr>
        <p:spPr bwMode="auto">
          <a:xfrm>
            <a:off x="1687562" y="959505"/>
            <a:ext cx="8838045" cy="460841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>
              <a:spcAft>
                <a:spcPts val="7975"/>
              </a:spcAft>
            </a:pPr>
            <a:r>
              <a:rPr lang="en-US" sz="4300"/>
              <a:t>Instrucciones de control de flujo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90758" y="1256461"/>
            <a:ext cx="4595091" cy="395007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300" spc="-50">
                <a:latin typeface="Arial"/>
              </a:rPr>
              <a:t>Saltos - Branch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500910" y="2180945"/>
            <a:ext cx="9188258" cy="2347632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marL="354076" indent="-330200" algn="just" eaLnBrk="1" fontAlgn="auto" hangingPunct="1">
              <a:spcBef>
                <a:spcPts val="0"/>
              </a:spcBef>
              <a:spcAft>
                <a:spcPts val="840"/>
              </a:spcAft>
              <a:defRPr/>
            </a:pPr>
            <a:r>
              <a:rPr lang="en-US" sz="3100" spc="-50">
                <a:latin typeface="Calibri"/>
              </a:rPr>
              <a:t>•    Instrucciones de salto (Branching): BX, B, BL</a:t>
            </a:r>
          </a:p>
          <a:p>
            <a:pPr marL="354076" indent="-330200" algn="just" eaLnBrk="1" fontAlgn="auto" hangingPunct="1">
              <a:lnSpc>
                <a:spcPts val="2688"/>
              </a:lnSpc>
              <a:spcBef>
                <a:spcPts val="0"/>
              </a:spcBef>
              <a:spcAft>
                <a:spcPts val="210"/>
              </a:spcAft>
              <a:defRPr/>
            </a:pPr>
            <a:r>
              <a:rPr lang="en-US" sz="3100" spc="-50">
                <a:latin typeface="Calibri"/>
              </a:rPr>
              <a:t>•    B: salto con desplazamiento de 24 bits con signo</a:t>
            </a:r>
          </a:p>
          <a:p>
            <a:pPr marL="354076" indent="-330200" algn="just" eaLnBrk="1" fontAlgn="auto" hangingPunct="1">
              <a:spcBef>
                <a:spcPts val="0"/>
              </a:spcBef>
              <a:spcAft>
                <a:spcPts val="840"/>
              </a:spcAft>
              <a:defRPr/>
            </a:pPr>
            <a:r>
              <a:rPr lang="en-US" sz="3100" spc="-50">
                <a:latin typeface="Calibri"/>
              </a:rPr>
              <a:t>•    BL: enlace (link) PC -&gt; R14</a:t>
            </a:r>
          </a:p>
          <a:p>
            <a:pPr marL="354076" indent="-330200" algn="just" eaLnBrk="1" fontAlgn="auto" hangingPunct="1"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 spc="-50">
                <a:latin typeface="Calibri"/>
              </a:rPr>
              <a:t>•    Instrucciones de transferencia de datos: LDR, STR, LDRH, STRH, LDRSB, LDRSH, LDM, STM, SWP.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23470" y="949699"/>
            <a:ext cx="4548909" cy="491659"/>
          </a:xfrm>
          <a:prstGeom prst="rect">
            <a:avLst/>
          </a:prstGeom>
          <a:solidFill>
            <a:srgbClr val="FFFFCB"/>
          </a:solidFill>
        </p:spPr>
        <p:txBody>
          <a:bodyPr wrap="none" lIns="0" tIns="0" rIns="0" bIns="0"/>
          <a:lstStyle/>
          <a:p>
            <a:pPr algn="ctr" eaLnBrk="1" fontAlgn="auto" hangingPunct="1">
              <a:spcBef>
                <a:spcPts val="0"/>
              </a:spcBef>
              <a:spcAft>
                <a:spcPts val="3780"/>
              </a:spcAft>
              <a:defRPr/>
            </a:pPr>
            <a:r>
              <a:rPr lang="en-US" sz="4300" spc="-50">
                <a:latin typeface="Arial"/>
              </a:rPr>
              <a:t>Control de flujo</a:t>
            </a:r>
          </a:p>
        </p:txBody>
      </p:sp>
      <p:sp>
        <p:nvSpPr>
          <p:cNvPr id="58371" name="Rectangle 2"/>
          <p:cNvSpPr>
            <a:spLocks noChangeArrowheads="1"/>
          </p:cNvSpPr>
          <p:nvPr/>
        </p:nvSpPr>
        <p:spPr bwMode="auto">
          <a:xfrm>
            <a:off x="2863273" y="1958228"/>
            <a:ext cx="3317394" cy="16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100" b="1">
                <a:latin typeface="Times New Roman" pitchFamily="18" charset="0"/>
              </a:rPr>
              <a:t>Branch </a:t>
            </a:r>
            <a:r>
              <a:rPr lang="en-US" sz="1100" b="1" u="sng">
                <a:solidFill>
                  <a:srgbClr val="332D3A"/>
                </a:solidFill>
                <a:latin typeface="Times New Roman" pitchFamily="18" charset="0"/>
              </a:rPr>
              <a:t>Interpretation</a:t>
            </a:r>
            <a:r>
              <a:rPr lang="en-US" sz="1100" b="1">
                <a:solidFill>
                  <a:srgbClr val="332D3A"/>
                </a:solidFill>
                <a:latin typeface="Times New Roman" pitchFamily="18" charset="0"/>
              </a:rPr>
              <a:t> Normal uses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05425" y="2113710"/>
          <a:ext cx="6715606" cy="1029541"/>
        </p:xfrm>
        <a:graphic>
          <a:graphicData uri="http://schemas.openxmlformats.org/drawingml/2006/table">
            <a:tbl>
              <a:tblPr/>
              <a:tblGrid>
                <a:gridCol w="912091"/>
                <a:gridCol w="1466273"/>
                <a:gridCol w="4337242"/>
              </a:tblGrid>
              <a:tr h="17509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 BAL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1726"/>
                          </a:solidFill>
                          <a:effectLst/>
                          <a:latin typeface="Times New Roman" pitchFamily="18" charset="0"/>
                        </a:rPr>
                        <a:t>Unconditional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032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1726"/>
                          </a:solidFill>
                          <a:effectLst/>
                          <a:latin typeface="Times New Roman" pitchFamily="18" charset="0"/>
                        </a:rPr>
                        <a:t>Always take this branch</a:t>
                      </a:r>
                    </a:p>
                  </a:txBody>
                  <a:tcPr marL="0" marR="0" marT="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1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A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A1726"/>
                          </a:solidFill>
                          <a:effectLst/>
                          <a:latin typeface="Times New Roman" pitchFamily="18" charset="0"/>
                        </a:rPr>
                        <a:t>Always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032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2D3A"/>
                          </a:solidFill>
                          <a:effectLst/>
                          <a:latin typeface="Times New Roman" pitchFamily="18" charset="0"/>
                        </a:rPr>
                        <a:t>Always take this branch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55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BEQ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2D3A"/>
                          </a:solidFill>
                          <a:effectLst/>
                          <a:latin typeface="Times New Roman" pitchFamily="18" charset="0"/>
                        </a:rPr>
                        <a:t>Equal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032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2D3A"/>
                          </a:solidFill>
                          <a:effectLst/>
                          <a:latin typeface="Times New Roman" pitchFamily="18" charset="0"/>
                        </a:rPr>
                        <a:t>Comparison equal or zero result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BNE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2D3A"/>
                          </a:solidFill>
                          <a:effectLst/>
                          <a:latin typeface="Times New Roman" pitchFamily="18" charset="0"/>
                        </a:rPr>
                        <a:t>Not equal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032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2D3A"/>
                          </a:solidFill>
                          <a:effectLst/>
                          <a:latin typeface="Times New Roman" pitchFamily="18" charset="0"/>
                        </a:rPr>
                        <a:t>Comparison </a:t>
                      </a: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not </a:t>
                      </a: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2D3A"/>
                          </a:solidFill>
                          <a:effectLst/>
                          <a:latin typeface="Times New Roman" pitchFamily="18" charset="0"/>
                        </a:rPr>
                        <a:t>equal or non-zero result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27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BPL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Plus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032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Result </a:t>
                      </a: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2D3A"/>
                          </a:solidFill>
                          <a:effectLst/>
                          <a:latin typeface="Times New Roman" pitchFamily="18" charset="0"/>
                        </a:rPr>
                        <a:t>positive </a:t>
                      </a: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or </a:t>
                      </a: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2D3A"/>
                          </a:solidFill>
                          <a:effectLst/>
                          <a:latin typeface="Times New Roman" pitchFamily="18" charset="0"/>
                        </a:rPr>
                        <a:t>zero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851727" y="3154456"/>
          <a:ext cx="5479010" cy="914399"/>
        </p:xfrm>
        <a:graphic>
          <a:graphicData uri="http://schemas.openxmlformats.org/drawingml/2006/table">
            <a:tbl>
              <a:tblPr/>
              <a:tblGrid>
                <a:gridCol w="6059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145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585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indent="0"/>
                      <a:r>
                        <a:rPr lang="en-US" sz="1000" b="1">
                          <a:latin typeface="Times New Roman"/>
                        </a:rPr>
                        <a:t>BMI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Minus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Result minus </a:t>
                      </a:r>
                      <a:r>
                        <a:rPr lang="en-US" sz="1000" b="1">
                          <a:solidFill>
                            <a:srgbClr val="150E18"/>
                          </a:solidFill>
                          <a:latin typeface="Times New Roman"/>
                        </a:rPr>
                        <a:t>or negative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9016">
                <a:tc>
                  <a:txBody>
                    <a:bodyPr/>
                    <a:lstStyle/>
                    <a:p>
                      <a:pPr indent="0"/>
                      <a:r>
                        <a:rPr lang="en-US" sz="1000" b="1">
                          <a:solidFill>
                            <a:srgbClr val="403D50"/>
                          </a:solidFill>
                          <a:latin typeface="Times New Roman"/>
                        </a:rPr>
                        <a:t>BCC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Cany</a:t>
                      </a:r>
                      <a:r>
                        <a:rPr lang="en-US" sz="1000" b="1" baseline="30000">
                          <a:solidFill>
                            <a:srgbClr val="332D3A"/>
                          </a:solidFill>
                          <a:latin typeface="Times New Roman"/>
                        </a:rPr>
                        <a:t>?</a:t>
                      </a:r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clear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Arithmetic operation did not give cany-out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88259">
                <a:tc>
                  <a:txBody>
                    <a:bodyPr/>
                    <a:lstStyle/>
                    <a:p>
                      <a:pPr indent="0"/>
                      <a:r>
                        <a:rPr lang="en-US" sz="1000" b="1">
                          <a:latin typeface="Times New Roman"/>
                        </a:rPr>
                        <a:t>BLO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latin typeface="Times New Roman"/>
                        </a:rPr>
                        <a:t>Lower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Unsigned comparison gave lower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85569">
                <a:tc>
                  <a:txBody>
                    <a:bodyPr/>
                    <a:lstStyle/>
                    <a:p>
                      <a:pPr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BCS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C any set </a:t>
                      </a:r>
                      <a:r>
                        <a:rPr lang="en-US" sz="1000" b="1">
                          <a:latin typeface="Times New Roman"/>
                        </a:rPr>
                        <a:t>Higher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Arithmetic operation gave cany-out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58675">
                <a:tc>
                  <a:txBody>
                    <a:bodyPr/>
                    <a:lstStyle/>
                    <a:p>
                      <a:pPr indent="0"/>
                      <a:r>
                        <a:rPr lang="en-US" sz="900" i="1">
                          <a:latin typeface="Calibri"/>
                        </a:rPr>
                        <a:t>BUS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latin typeface="Times New Roman"/>
                        </a:rPr>
                        <a:t>or </a:t>
                      </a:r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same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Unsigned comparison gave higher or same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605424" y="4101353"/>
          <a:ext cx="6716685" cy="1530275"/>
        </p:xfrm>
        <a:graphic>
          <a:graphicData uri="http://schemas.openxmlformats.org/drawingml/2006/table">
            <a:tbl>
              <a:tblPr/>
              <a:tblGrid>
                <a:gridCol w="85713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886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27089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23221"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BVC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Overflow clear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/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Signed integer operation: </a:t>
                      </a:r>
                      <a:r>
                        <a:rPr lang="en-US" sz="1000" b="1">
                          <a:solidFill>
                            <a:srgbClr val="403D50"/>
                          </a:solidFill>
                          <a:latin typeface="Times New Roman"/>
                        </a:rPr>
                        <a:t>no </a:t>
                      </a:r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overflow occiured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7842"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BVS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150E18"/>
                          </a:solidFill>
                          <a:latin typeface="Times New Roman"/>
                        </a:rPr>
                        <a:t>Overflow set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Signed integer operation: overflow occurred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01706"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 b="1">
                          <a:latin typeface="Times New Roman"/>
                        </a:rPr>
                        <a:t>BGT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Greater than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Signed integer comparison gave greater than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 b="1">
                          <a:latin typeface="Times New Roman"/>
                        </a:rPr>
                        <a:t>BGE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Greater or equal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Signed integer comparison gave greater or </a:t>
                      </a:r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equal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17842"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 b="1">
                          <a:latin typeface="Times New Roman"/>
                        </a:rPr>
                        <a:t>BLT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Less than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/>
                      <a:r>
                        <a:rPr lang="en-US" sz="1000" b="1">
                          <a:solidFill>
                            <a:srgbClr val="332D3A"/>
                          </a:solidFill>
                          <a:latin typeface="Times New Roman"/>
                        </a:rPr>
                        <a:t>Signed integer comparison gave less </a:t>
                      </a:r>
                      <a:r>
                        <a:rPr lang="en-US" sz="1000" b="1">
                          <a:latin typeface="Times New Roman"/>
                        </a:rPr>
                        <a:t>than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12464"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 b="1">
                          <a:latin typeface="Times New Roman"/>
                        </a:rPr>
                        <a:t>BLE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Less or equal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Signed </a:t>
                      </a:r>
                      <a:r>
                        <a:rPr lang="en-US" sz="1000" b="1">
                          <a:latin typeface="Times New Roman"/>
                        </a:rPr>
                        <a:t>integer </a:t>
                      </a:r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comparison gave less than or equal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/>
                      <a:r>
                        <a:rPr lang="en-US" sz="1000" b="1">
                          <a:latin typeface="Times New Roman"/>
                        </a:rPr>
                        <a:t>BHI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Higher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0" indent="0"/>
                      <a:r>
                        <a:rPr lang="en-US" sz="1000" b="1">
                          <a:solidFill>
                            <a:srgbClr val="2A1726"/>
                          </a:solidFill>
                          <a:latin typeface="Times New Roman"/>
                        </a:rPr>
                        <a:t>Unsigned comparison gave higher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58458" name="Rectangle 6"/>
          <p:cNvSpPr>
            <a:spLocks noChangeArrowheads="1"/>
          </p:cNvSpPr>
          <p:nvPr/>
        </p:nvSpPr>
        <p:spPr bwMode="auto">
          <a:xfrm>
            <a:off x="3723410" y="5650566"/>
            <a:ext cx="4471939" cy="152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 eaLnBrk="1" hangingPunct="1"/>
            <a:r>
              <a:rPr lang="en-US" sz="1100">
                <a:solidFill>
                  <a:srgbClr val="332D3A"/>
                </a:solidFill>
                <a:latin typeface="Times New Roman" pitchFamily="18" charset="0"/>
              </a:rPr>
              <a:t>Lower or same    Unsigned comparison gave lower or same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/>
          <p:cNvSpPr>
            <a:spLocks noChangeArrowheads="1"/>
          </p:cNvSpPr>
          <p:nvPr/>
        </p:nvSpPr>
        <p:spPr bwMode="auto">
          <a:xfrm>
            <a:off x="2553471" y="1207434"/>
            <a:ext cx="7100455" cy="389404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 eaLnBrk="1" hangingPunct="1">
              <a:spcAft>
                <a:spcPts val="4200"/>
              </a:spcAft>
            </a:pPr>
            <a:r>
              <a:rPr lang="en-US" sz="4300">
                <a:latin typeface="Arial" charset="0"/>
              </a:rPr>
              <a:t>Instrucciones de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8774" y="2253784"/>
            <a:ext cx="9902152" cy="2382650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marL="355600" indent="-355600" eaLnBrk="1" fontAlgn="auto" hangingPunct="1">
              <a:lnSpc>
                <a:spcPts val="3360"/>
              </a:lnSpc>
              <a:spcBef>
                <a:spcPts val="4200"/>
              </a:spcBef>
              <a:spcAft>
                <a:spcPts val="420"/>
              </a:spcAft>
              <a:defRPr/>
            </a:pPr>
            <a:r>
              <a:rPr lang="en-US" sz="3100" spc="-50">
                <a:latin typeface="Calibri"/>
              </a:rPr>
              <a:t>•    Instrucciones de excepciones: SWI, Software Interrupt.</a:t>
            </a:r>
          </a:p>
          <a:p>
            <a:pPr marL="355600" indent="-355600" eaLnBrk="1" fontAlgn="auto" hangingPunct="1">
              <a:lnSpc>
                <a:spcPts val="3360"/>
              </a:lnSpc>
              <a:spcBef>
                <a:spcPts val="0"/>
              </a:spcBef>
              <a:spcAft>
                <a:spcPts val="420"/>
              </a:spcAft>
              <a:defRPr/>
            </a:pPr>
            <a:r>
              <a:rPr lang="en-US" sz="3100" spc="-50">
                <a:latin typeface="Calibri"/>
              </a:rPr>
              <a:t>•    Instrucciones del Coprocesador: CDP, LDC, STC, MRC, MCR.</a:t>
            </a:r>
          </a:p>
          <a:p>
            <a:pPr marL="355600" indent="-355600" eaLnBrk="1" fontAlgn="auto" hangingPunct="1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100" spc="-50">
                <a:latin typeface="Calibri"/>
              </a:rPr>
              <a:t>•    Cortex no ejecuta estas instrucciones pero deja al coprocesador la manipulation de ellas.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ChangeArrowheads="1"/>
          </p:cNvSpPr>
          <p:nvPr/>
        </p:nvSpPr>
        <p:spPr bwMode="auto">
          <a:xfrm>
            <a:off x="3313546" y="962306"/>
            <a:ext cx="5609167" cy="37399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4300"/>
              <a:t>Inferfaz C Assembler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1223819" y="1853173"/>
            <a:ext cx="9763606" cy="3546662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363538" indent="-342900" algn="just" eaLnBrk="1" hangingPunct="1">
              <a:lnSpc>
                <a:spcPts val="2900"/>
              </a:lnSpc>
              <a:spcAft>
                <a:spcPts val="213"/>
              </a:spcAft>
            </a:pPr>
            <a:r>
              <a:rPr lang="en-US" sz="3000"/>
              <a:t>•    r0-r3 son los registros de argumentos y borradores; rO-rl son tambien los de resultados</a:t>
            </a:r>
          </a:p>
          <a:p>
            <a:pPr marL="363538" indent="-342900" algn="just" eaLnBrk="1" hangingPunct="1">
              <a:lnSpc>
                <a:spcPts val="2875"/>
              </a:lnSpc>
              <a:spcAft>
                <a:spcPts val="213"/>
              </a:spcAft>
            </a:pPr>
            <a:r>
              <a:rPr lang="en-US" sz="3000"/>
              <a:t>•    r4-r8 son registros a ser salvados por la funcion llamada y son utilizados para variables locales.</a:t>
            </a:r>
          </a:p>
          <a:p>
            <a:pPr marL="363538" indent="-342900" algn="just" eaLnBrk="1" hangingPunct="1">
              <a:lnSpc>
                <a:spcPts val="2875"/>
              </a:lnSpc>
              <a:spcAft>
                <a:spcPts val="213"/>
              </a:spcAft>
            </a:pPr>
            <a:r>
              <a:rPr lang="en-US" sz="3000"/>
              <a:t>•    r9 puede ser un registro a ser salvados por la funcion llamada o no (en algunas variantes de AAPCS es un registro especial)</a:t>
            </a:r>
          </a:p>
          <a:p>
            <a:pPr marL="363538" indent="-342900" algn="just" eaLnBrk="1" hangingPunct="1">
              <a:lnSpc>
                <a:spcPts val="2875"/>
              </a:lnSpc>
              <a:spcAft>
                <a:spcPts val="213"/>
              </a:spcAft>
            </a:pPr>
            <a:r>
              <a:rPr lang="en-US" sz="3000"/>
              <a:t>•    rlO-rll son registros a ser salvados por la funcion llamada</a:t>
            </a:r>
          </a:p>
          <a:p>
            <a:pPr marL="363538" indent="-342900" algn="just" eaLnBrk="1" hangingPunct="1"/>
            <a:r>
              <a:rPr lang="en-US" sz="3000"/>
              <a:t>•    rl2-rl5 son registros especiales</a:t>
            </a: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4983788" y="6112809"/>
            <a:ext cx="2228273" cy="14567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Assembler y su interfaz con C</a:t>
            </a: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10773834" y="6118412"/>
            <a:ext cx="209742" cy="117662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ChangeArrowheads="1"/>
          </p:cNvSpPr>
          <p:nvPr/>
        </p:nvSpPr>
        <p:spPr bwMode="auto">
          <a:xfrm>
            <a:off x="3617576" y="965107"/>
            <a:ext cx="4939531" cy="455239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 eaLnBrk="1" hangingPunct="1">
              <a:spcAft>
                <a:spcPts val="3363"/>
              </a:spcAft>
            </a:pPr>
            <a:r>
              <a:rPr lang="en-US" sz="4200"/>
              <a:t>Variables globales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4576" y="1850372"/>
            <a:ext cx="9442258" cy="3797393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just" eaLnBrk="1" fontAlgn="auto" hangingPunct="1">
              <a:lnSpc>
                <a:spcPts val="3240"/>
              </a:lnSpc>
              <a:spcBef>
                <a:spcPts val="336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AREA    globals, CODE, READONLY</a:t>
            </a:r>
          </a:p>
          <a:p>
            <a:pPr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EXPORT    asmsubroutine</a:t>
            </a:r>
          </a:p>
          <a:p>
            <a:pPr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IMPORT    globvar</a:t>
            </a:r>
          </a:p>
          <a:p>
            <a:pPr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asmsubroutine</a:t>
            </a:r>
          </a:p>
          <a:p>
            <a:pPr marL="379476"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LDR    rl, =globvar ; Cargar    rl con la direccion de</a:t>
            </a:r>
          </a:p>
          <a:p>
            <a:pPr marL="3681476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; la variable global</a:t>
            </a:r>
          </a:p>
          <a:p>
            <a:pPr marL="379476"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LDR    rO,    [rl]</a:t>
            </a:r>
          </a:p>
          <a:p>
            <a:pPr marL="379476"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ADD    rO,    rO, #2</a:t>
            </a:r>
          </a:p>
          <a:p>
            <a:pPr marL="379476"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STR    rO,    [rl]</a:t>
            </a:r>
          </a:p>
          <a:p>
            <a:pPr marL="379476"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BX    LR</a:t>
            </a:r>
          </a:p>
          <a:p>
            <a:pPr marL="379476" algn="just" eaLnBrk="1" fontAlgn="auto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>
                <a:latin typeface="Calibri"/>
              </a:rPr>
              <a:t>END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4983788" y="6112809"/>
            <a:ext cx="2228273" cy="14567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Assembler y su interfaz con C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10773834" y="6118412"/>
            <a:ext cx="213590" cy="117662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ChangeArrowheads="1"/>
          </p:cNvSpPr>
          <p:nvPr/>
        </p:nvSpPr>
        <p:spPr bwMode="auto">
          <a:xfrm>
            <a:off x="1589424" y="962306"/>
            <a:ext cx="9051636" cy="37399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4300"/>
              <a:t>Interfaz C Assembler - Main en C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4576" y="1850372"/>
            <a:ext cx="5453303" cy="3490632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algn="just" eaLnBrk="1" fontAlgn="auto" hangingPunct="1">
              <a:spcBef>
                <a:spcPts val="0"/>
              </a:spcBef>
              <a:spcAft>
                <a:spcPts val="2520"/>
              </a:spcAft>
              <a:defRPr/>
            </a:pPr>
            <a:r>
              <a:rPr lang="en-US" sz="2200">
                <a:latin typeface="Calibri"/>
              </a:rPr>
              <a:t>#include &lt;lpcl7xx.h&gt;</a:t>
            </a:r>
          </a:p>
          <a:p>
            <a:pPr eaLnBrk="1" fontAlgn="auto" hangingPunct="1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>
                <a:latin typeface="Calibri"/>
              </a:rPr>
              <a:t>extern int complementa_a_2(int); int    a;</a:t>
            </a:r>
          </a:p>
          <a:p>
            <a:pPr algn="just" eaLnBrk="1" fontAlgn="auto" hangingPunct="1">
              <a:lnSpc>
                <a:spcPts val="2640"/>
              </a:lnSpc>
              <a:spcBef>
                <a:spcPts val="0"/>
              </a:spcBef>
              <a:spcAft>
                <a:spcPts val="1680"/>
              </a:spcAft>
              <a:defRPr/>
            </a:pPr>
            <a:r>
              <a:rPr lang="en-US" sz="2200">
                <a:latin typeface="Calibri"/>
              </a:rPr>
              <a:t>int    resul;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630"/>
              </a:spcAft>
              <a:defRPr/>
            </a:pPr>
            <a:r>
              <a:rPr lang="en-US" sz="2200">
                <a:latin typeface="Calibri"/>
              </a:rPr>
              <a:t>int main(void)</a:t>
            </a:r>
          </a:p>
          <a:p>
            <a:pPr algn="just" eaLnBrk="1" fontAlgn="auto" hangingPunct="1">
              <a:spcBef>
                <a:spcPts val="0"/>
              </a:spcBef>
              <a:spcAft>
                <a:spcPts val="630"/>
              </a:spcAft>
              <a:defRPr/>
            </a:pPr>
            <a:r>
              <a:rPr lang="en-US" sz="2400">
                <a:latin typeface="Calibri"/>
              </a:rPr>
              <a:t>{</a:t>
            </a:r>
          </a:p>
          <a:p>
            <a:pPr marL="379476" eaLnBrk="1" fontAlgn="auto" hangingPunct="1">
              <a:spcBef>
                <a:spcPts val="0"/>
              </a:spcBef>
              <a:spcAft>
                <a:spcPts val="2520"/>
              </a:spcAft>
              <a:defRPr/>
            </a:pPr>
            <a:r>
              <a:rPr lang="en-US" sz="2200">
                <a:latin typeface="Calibri"/>
              </a:rPr>
              <a:t>a=Ox55;</a:t>
            </a:r>
          </a:p>
          <a:p>
            <a:pPr marL="379476" eaLnBrk="1" fontAlgn="auto" hangingPunct="1">
              <a:spcBef>
                <a:spcPts val="0"/>
              </a:spcBef>
              <a:spcAft>
                <a:spcPts val="630"/>
              </a:spcAft>
              <a:defRPr/>
            </a:pPr>
            <a:r>
              <a:rPr lang="en-US" sz="2200">
                <a:latin typeface="Calibri"/>
              </a:rPr>
              <a:t>resul = complementa_a_2(a);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>
                <a:latin typeface="Calibri"/>
              </a:rPr>
              <a:t>}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4983788" y="6112809"/>
            <a:ext cx="2228273" cy="14567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Assembler y su interfaz con C</a:t>
            </a: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10773834" y="6118412"/>
            <a:ext cx="209742" cy="117662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ChangeArrowheads="1"/>
          </p:cNvSpPr>
          <p:nvPr/>
        </p:nvSpPr>
        <p:spPr bwMode="auto">
          <a:xfrm>
            <a:off x="1277697" y="979115"/>
            <a:ext cx="9636606" cy="344581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3900"/>
              <a:t>Interfaz C Assembler - Funcion en Asm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8425" y="1850372"/>
            <a:ext cx="8385848" cy="1721503"/>
          </a:xfrm>
          <a:prstGeom prst="rect">
            <a:avLst/>
          </a:prstGeom>
          <a:solidFill>
            <a:srgbClr val="FFFFCB"/>
          </a:solidFill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1890"/>
              </a:spcAft>
              <a:defRPr/>
            </a:pPr>
            <a:r>
              <a:rPr lang="en-US" sz="2400">
                <a:latin typeface="Calibri"/>
              </a:rPr>
              <a:t>; Ejemplo de una suma entre registros</a:t>
            </a:r>
          </a:p>
          <a:p>
            <a:pPr marL="351028" eaLnBrk="1" fontAlgn="auto" hangingPunct="1">
              <a:lnSpc>
                <a:spcPts val="2136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>
                <a:latin typeface="Calibri"/>
              </a:rPr>
              <a:t>AREA Code, CODE, READONLY ; Dar nombre a esta area de codigo ARM    ; Codigo en modo ARM (32bits)</a:t>
            </a:r>
          </a:p>
          <a:p>
            <a:pPr marL="351028" eaLnBrk="1" fontAlgn="auto" hangingPunct="1">
              <a:lnSpc>
                <a:spcPts val="2136"/>
              </a:lnSpc>
              <a:spcBef>
                <a:spcPts val="0"/>
              </a:spcBef>
              <a:spcAft>
                <a:spcPts val="1260"/>
              </a:spcAft>
              <a:defRPr/>
            </a:pPr>
            <a:r>
              <a:rPr lang="en-US" sz="1700">
                <a:latin typeface="Calibri"/>
              </a:rPr>
              <a:t>EXPORT Complementa_a_2</a:t>
            </a:r>
          </a:p>
          <a:p>
            <a:pPr eaLnBrk="1" fontAlgn="auto" hangingPunct="1">
              <a:spcBef>
                <a:spcPts val="0"/>
              </a:spcBef>
              <a:spcAft>
                <a:spcPts val="1890"/>
              </a:spcAft>
              <a:defRPr/>
            </a:pPr>
            <a:r>
              <a:rPr lang="en-US" sz="1700">
                <a:latin typeface="Calibri"/>
              </a:rPr>
              <a:t>Complementa_a_2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18288" y="3846419"/>
          <a:ext cx="9007302" cy="2100431"/>
        </p:xfrm>
        <a:graphic>
          <a:graphicData uri="http://schemas.openxmlformats.org/drawingml/2006/table">
            <a:tbl>
              <a:tblPr/>
              <a:tblGrid>
                <a:gridCol w="13189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273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6103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69172">
                <a:tc>
                  <a:txBody>
                    <a:bodyPr/>
                    <a:lstStyle/>
                    <a:p>
                      <a:pPr indent="0"/>
                      <a:r>
                        <a:rPr lang="en-US" sz="1500">
                          <a:latin typeface="Calibri"/>
                        </a:rPr>
                        <a:t>STMFD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31800" indent="0"/>
                      <a:r>
                        <a:rPr lang="en-US" sz="1500">
                          <a:latin typeface="Calibri"/>
                        </a:rPr>
                        <a:t>sp!, {r4-rl2, lr}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241300" indent="0">
                        <a:spcAft>
                          <a:spcPts val="420"/>
                        </a:spcAft>
                      </a:pPr>
                      <a:r>
                        <a:rPr lang="en-US" sz="1500">
                          <a:latin typeface="Calibri"/>
                        </a:rPr>
                        <a:t>; Pusheamos los registros para</a:t>
                      </a:r>
                    </a:p>
                    <a:p>
                      <a:pPr marL="241300" indent="0">
                        <a:lnSpc>
                          <a:spcPts val="1728"/>
                        </a:lnSpc>
                      </a:pPr>
                      <a:r>
                        <a:rPr lang="en-US" sz="1500">
                          <a:latin typeface="Calibri"/>
                        </a:rPr>
                        <a:t>; despreocuparnos y poder pisar los ; contenidos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indent="0"/>
                      <a:r>
                        <a:rPr lang="en-US" sz="1500">
                          <a:latin typeface="Calibri"/>
                        </a:rPr>
                        <a:t>MVN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31800" indent="0"/>
                      <a:r>
                        <a:rPr lang="en-US" sz="1500">
                          <a:latin typeface="Calibri"/>
                        </a:rPr>
                        <a:t>rO,rO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241300" indent="0"/>
                      <a:r>
                        <a:rPr lang="en-US" sz="1500">
                          <a:latin typeface="Calibri"/>
                        </a:rPr>
                        <a:t>;Luego, se debe devolver el contenido en RO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381">
                <a:tc>
                  <a:txBody>
                    <a:bodyPr/>
                    <a:lstStyle/>
                    <a:p>
                      <a:pPr indent="0"/>
                      <a:r>
                        <a:rPr lang="en-US" sz="1500">
                          <a:latin typeface="Calibri"/>
                        </a:rPr>
                        <a:t>ADD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31800" indent="0"/>
                      <a:r>
                        <a:rPr lang="en-US" sz="1500">
                          <a:latin typeface="Calibri"/>
                        </a:rPr>
                        <a:t>rO,rO,#l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6518">
                <a:tc>
                  <a:txBody>
                    <a:bodyPr/>
                    <a:lstStyle/>
                    <a:p>
                      <a:pPr indent="0"/>
                      <a:r>
                        <a:rPr lang="en-US" sz="1500">
                          <a:latin typeface="Calibri"/>
                        </a:rPr>
                        <a:t>LDMFD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31800" indent="0"/>
                      <a:r>
                        <a:rPr lang="en-US" sz="1500">
                          <a:latin typeface="Calibri"/>
                        </a:rPr>
                        <a:t>sp!, {r4-rl2, lr}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241300" indent="0"/>
                      <a:r>
                        <a:rPr lang="en-US" sz="1500">
                          <a:latin typeface="Calibri"/>
                        </a:rPr>
                        <a:t>; Recuperamos los registros salvados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/>
                      <a:r>
                        <a:rPr lang="en-US" sz="1500">
                          <a:latin typeface="Calibri"/>
                        </a:rPr>
                        <a:t>BX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431800" indent="0"/>
                      <a:r>
                        <a:rPr lang="en-US" sz="1500">
                          <a:latin typeface="Calibri"/>
                        </a:rPr>
                        <a:t>lr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241300" indent="0"/>
                      <a:r>
                        <a:rPr lang="en-US" sz="1500">
                          <a:latin typeface="Calibri"/>
                        </a:rPr>
                        <a:t>; Return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6654" name="Rectangle 4"/>
          <p:cNvSpPr>
            <a:spLocks noChangeArrowheads="1"/>
          </p:cNvSpPr>
          <p:nvPr/>
        </p:nvSpPr>
        <p:spPr bwMode="auto">
          <a:xfrm>
            <a:off x="1637531" y="6231872"/>
            <a:ext cx="490681" cy="158283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700"/>
              <a:t>END</a:t>
            </a:r>
          </a:p>
        </p:txBody>
      </p:sp>
      <p:sp>
        <p:nvSpPr>
          <p:cNvPr id="26655" name="Rectangle 5"/>
          <p:cNvSpPr>
            <a:spLocks noChangeArrowheads="1"/>
          </p:cNvSpPr>
          <p:nvPr/>
        </p:nvSpPr>
        <p:spPr bwMode="auto">
          <a:xfrm>
            <a:off x="4983788" y="6112809"/>
            <a:ext cx="2228273" cy="14567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Assembler y su interfaz con C</a:t>
            </a:r>
          </a:p>
        </p:txBody>
      </p:sp>
      <p:sp>
        <p:nvSpPr>
          <p:cNvPr id="26656" name="Rectangle 6"/>
          <p:cNvSpPr>
            <a:spLocks noChangeArrowheads="1"/>
          </p:cNvSpPr>
          <p:nvPr/>
        </p:nvSpPr>
        <p:spPr bwMode="auto">
          <a:xfrm>
            <a:off x="10773834" y="6118412"/>
            <a:ext cx="209742" cy="117662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ChangeArrowheads="1"/>
          </p:cNvSpPr>
          <p:nvPr/>
        </p:nvSpPr>
        <p:spPr bwMode="auto">
          <a:xfrm>
            <a:off x="1602894" y="725581"/>
            <a:ext cx="9026621" cy="373997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4300"/>
              <a:t>Inferfaz C Assembler - Main en C</a:t>
            </a: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196879" y="2054880"/>
            <a:ext cx="9115137" cy="3452812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1" hangingPunct="1">
              <a:spcAft>
                <a:spcPts val="2313"/>
              </a:spcAft>
            </a:pPr>
            <a:r>
              <a:rPr lang="en-US" sz="1900"/>
              <a:t>// Funcion que prepara la suma y resta y llama a la funcion en Assembler</a:t>
            </a:r>
          </a:p>
          <a:p>
            <a:pPr eaLnBrk="1" hangingPunct="1">
              <a:lnSpc>
                <a:spcPts val="2400"/>
              </a:lnSpc>
            </a:pPr>
            <a:r>
              <a:rPr lang="en-US" sz="1900"/>
              <a:t>int a; int b;</a:t>
            </a:r>
          </a:p>
          <a:p>
            <a:pPr eaLnBrk="1" hangingPunct="1">
              <a:lnSpc>
                <a:spcPts val="2400"/>
              </a:lnSpc>
            </a:pPr>
            <a:r>
              <a:rPr lang="en-US" sz="1900"/>
              <a:t>int resultl; int result2;</a:t>
            </a:r>
          </a:p>
          <a:p>
            <a:pPr algn="just" eaLnBrk="1" hangingPunct="1">
              <a:lnSpc>
                <a:spcPts val="2400"/>
              </a:lnSpc>
            </a:pPr>
            <a:r>
              <a:rPr lang="en-US" sz="1900"/>
              <a:t>extern int    suma (int,int);</a:t>
            </a:r>
          </a:p>
          <a:p>
            <a:pPr algn="just" eaLnBrk="1" hangingPunct="1">
              <a:lnSpc>
                <a:spcPts val="2400"/>
              </a:lnSpc>
              <a:spcAft>
                <a:spcPts val="1475"/>
              </a:spcAft>
            </a:pPr>
            <a:r>
              <a:rPr lang="en-US" sz="1900"/>
              <a:t>extern int    resta (int, int);</a:t>
            </a:r>
          </a:p>
          <a:p>
            <a:pPr algn="just" eaLnBrk="1" hangingPunct="1">
              <a:spcAft>
                <a:spcPts val="2313"/>
              </a:spcAft>
            </a:pPr>
            <a:r>
              <a:rPr lang="en-US" sz="1900"/>
              <a:t>int main (void){</a:t>
            </a:r>
          </a:p>
          <a:p>
            <a:pPr algn="just" eaLnBrk="1" hangingPunct="1">
              <a:spcAft>
                <a:spcPts val="625"/>
              </a:spcAft>
            </a:pPr>
            <a:r>
              <a:rPr lang="en-US" sz="1900"/>
              <a:t>a=0x20;</a:t>
            </a:r>
          </a:p>
          <a:p>
            <a:pPr algn="just" eaLnBrk="1" hangingPunct="1">
              <a:spcAft>
                <a:spcPts val="2313"/>
              </a:spcAft>
            </a:pPr>
            <a:r>
              <a:rPr lang="en-US" sz="1900"/>
              <a:t>b=0x20;</a:t>
            </a: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637532" y="5825659"/>
            <a:ext cx="2566939" cy="494459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eaLnBrk="1" hangingPunct="1">
              <a:lnSpc>
                <a:spcPts val="2400"/>
              </a:lnSpc>
              <a:spcBef>
                <a:spcPts val="2313"/>
              </a:spcBef>
            </a:pPr>
            <a:r>
              <a:rPr lang="en-US" sz="1900"/>
              <a:t>resultl = suma (a,b); result2 = resta (a,b);</a:t>
            </a: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4983788" y="6112809"/>
            <a:ext cx="2228273" cy="145676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Assembler y su interfaz con C</a:t>
            </a: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10773834" y="6118412"/>
            <a:ext cx="209742" cy="117662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1200">
                <a:solidFill>
                  <a:srgbClr val="898988"/>
                </a:solidFill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ChangeArrowheads="1"/>
          </p:cNvSpPr>
          <p:nvPr/>
        </p:nvSpPr>
        <p:spPr bwMode="auto">
          <a:xfrm>
            <a:off x="1277697" y="979115"/>
            <a:ext cx="9636606" cy="344581"/>
          </a:xfrm>
          <a:prstGeom prst="rect">
            <a:avLst/>
          </a:prstGeom>
          <a:solidFill>
            <a:srgbClr val="FFFFCB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eaLnBrk="1" hangingPunct="1"/>
            <a:r>
              <a:rPr lang="en-US" sz="3900"/>
              <a:t>Interfaz C Assembler - Funcion en Asm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08424" y="2063283"/>
          <a:ext cx="9775768" cy="4298577"/>
        </p:xfrm>
        <a:graphic>
          <a:graphicData uri="http://schemas.openxmlformats.org/drawingml/2006/table">
            <a:tbl>
              <a:tblPr/>
              <a:tblGrid>
                <a:gridCol w="106772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566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3175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0393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802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255494">
                <a:tc gridSpan="2">
                  <a:txBody>
                    <a:bodyPr/>
                    <a:lstStyle/>
                    <a:p>
                      <a:pPr marL="355600" indent="0"/>
                      <a:r>
                        <a:rPr lang="en-US" sz="1700">
                          <a:latin typeface="Calibri"/>
                        </a:rPr>
                        <a:t>AREA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300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Code,CODE, READONLY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8791">
                <a:tc>
                  <a:txBody>
                    <a:bodyPr/>
                    <a:lstStyle/>
                    <a:p>
                      <a:pPr indent="0" algn="r"/>
                      <a:r>
                        <a:rPr lang="en-US" sz="1700">
                          <a:latin typeface="Calibri"/>
                        </a:rPr>
                        <a:t>ARM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9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9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9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9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9548">
                <a:tc gridSpan="2">
                  <a:txBody>
                    <a:bodyPr/>
                    <a:lstStyle/>
                    <a:p>
                      <a:pPr marL="368300" indent="0"/>
                      <a:r>
                        <a:rPr lang="en-US" sz="1700">
                          <a:latin typeface="Calibri"/>
                        </a:rPr>
                        <a:t>export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2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suma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4169">
                <a:tc gridSpan="2">
                  <a:txBody>
                    <a:bodyPr/>
                    <a:lstStyle/>
                    <a:p>
                      <a:pPr marL="368300" indent="0"/>
                      <a:r>
                        <a:rPr lang="en-US" sz="1700">
                          <a:latin typeface="Calibri"/>
                        </a:rPr>
                        <a:t>export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23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resta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50838"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suma</a:t>
                      </a:r>
                    </a:p>
                  </a:txBody>
                  <a:tcPr marL="0" marR="0" marT="0" marB="0" anchor="ctr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STMFD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sp!, {r4-rl2, lr}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65100" indent="0"/>
                      <a:r>
                        <a:rPr lang="en-US" sz="1700">
                          <a:latin typeface="Calibri"/>
                        </a:rPr>
                        <a:t>; Pusheamos los registros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31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58184"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ADD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rO,rO,rl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65100" indent="0"/>
                      <a:r>
                        <a:rPr lang="en-US" sz="1700">
                          <a:latin typeface="Calibri"/>
                        </a:rPr>
                        <a:t>; Funcion suma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sz="13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LDMFD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sp!,{ r4-rl2,lr}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5344">
                <a:tc>
                  <a:txBody>
                    <a:bodyPr/>
                    <a:lstStyle/>
                    <a:p>
                      <a:endParaRPr sz="19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BX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lr</a:t>
                      </a:r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9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9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4169"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resta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STMFD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sp!, {r4-rl2, lr}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58184"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SUB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rO,rO,rl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85078"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LDMFD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>
                          <a:latin typeface="Calibri"/>
                        </a:rPr>
                        <a:t>sp!,{r4-rl2,lr}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marL="165100" indent="0"/>
                      <a:r>
                        <a:rPr lang="en-US" sz="1700">
                          <a:latin typeface="Calibri"/>
                        </a:rPr>
                        <a:t>; Recuperamos los registros salvados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55494">
                <a:tc>
                  <a:txBody>
                    <a:bodyPr/>
                    <a:lstStyle/>
                    <a:p>
                      <a:endParaRPr sz="1100"/>
                    </a:p>
                  </a:txBody>
                  <a:tcPr marL="0" marR="0" marT="0" marB="0">
                    <a:solidFill>
                      <a:srgbClr val="FFFFCB"/>
                    </a:solidFill>
                  </a:tcPr>
                </a:tc>
                <a:tc>
                  <a:txBody>
                    <a:bodyPr/>
                    <a:lstStyle/>
                    <a:p>
                      <a:pPr indent="0"/>
                      <a:r>
                        <a:rPr lang="en-US" sz="1700">
                          <a:latin typeface="Calibri"/>
                        </a:rPr>
                        <a:t>BX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01600" indent="0"/>
                      <a:r>
                        <a:rPr lang="en-US" sz="1000">
                          <a:latin typeface="Calibri"/>
                        </a:rPr>
                        <a:t>|p </a:t>
                      </a:r>
                      <a:r>
                        <a:rPr lang="en-US" sz="1000">
                          <a:solidFill>
                            <a:srgbClr val="898988"/>
                          </a:solidFill>
                          <a:latin typeface="Calibri"/>
                        </a:rPr>
                        <a:t>Assembler </a:t>
                      </a:r>
                      <a:r>
                        <a:rPr lang="en-US" sz="700">
                          <a:solidFill>
                            <a:srgbClr val="898988"/>
                          </a:solidFill>
                          <a:latin typeface="Calibri"/>
                        </a:rPr>
                        <a:t>y </a:t>
                      </a:r>
                      <a:r>
                        <a:rPr lang="en-US" sz="700" cap="small">
                          <a:solidFill>
                            <a:srgbClr val="898988"/>
                          </a:solidFill>
                          <a:latin typeface="Calibri"/>
                        </a:rPr>
                        <a:t>su </a:t>
                      </a:r>
                      <a:r>
                        <a:rPr lang="en-US" sz="1000">
                          <a:solidFill>
                            <a:srgbClr val="898988"/>
                          </a:solidFill>
                          <a:latin typeface="Calibri"/>
                        </a:rPr>
                        <a:t>interfaz con C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0" algn="r"/>
                      <a:r>
                        <a:rPr lang="en-US" sz="1000">
                          <a:solidFill>
                            <a:srgbClr val="898988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0" marR="0" marT="0" marB="0" anchor="b">
                    <a:solidFill>
                      <a:srgbClr val="FFFF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9319" y="2358838"/>
            <a:ext cx="2316788" cy="1912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228761" y="501134"/>
            <a:ext cx="114518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s-AR" b="1" smtClean="0"/>
              <a:t>REALIZANDO CAMBIOS EN EL REPOSITORIO LOCAL</a:t>
            </a:r>
            <a:endParaRPr lang="es-AR" smtClean="0"/>
          </a:p>
          <a:p>
            <a:pPr fontAlgn="base"/>
            <a:r>
              <a:rPr lang="es-AR" smtClean="0"/>
              <a:t>Cuando editamos los archivos de nuestro repositorio local automáticamente aparecen en la lista con el estado Modified.</a:t>
            </a:r>
            <a:endParaRPr lang="es-AR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91149" y="2300287"/>
            <a:ext cx="5466109" cy="346551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8824" y="3016250"/>
            <a:ext cx="3867973" cy="16446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228762" y="501134"/>
            <a:ext cx="356287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s-AR" dirty="0"/>
              <a:t>En la misma ventana si seleccionamos el archivo modificado se nos muestran los cambios introducidos. Las zonas verdes </a:t>
            </a:r>
            <a:endParaRPr lang="es-AR" dirty="0" smtClean="0"/>
          </a:p>
          <a:p>
            <a:pPr fontAlgn="base"/>
            <a:r>
              <a:rPr lang="es-AR" dirty="0" smtClean="0"/>
              <a:t>indican </a:t>
            </a:r>
            <a:r>
              <a:rPr lang="es-AR" dirty="0"/>
              <a:t>lo añadido y la parte roja significa que una línea se ha modificado. Esta vista tiene dos versiones de visualización </a:t>
            </a:r>
            <a:endParaRPr lang="es-AR" dirty="0" smtClean="0"/>
          </a:p>
          <a:p>
            <a:pPr fontAlgn="base"/>
            <a:r>
              <a:rPr lang="es-AR" dirty="0" smtClean="0"/>
              <a:t>de </a:t>
            </a:r>
            <a:r>
              <a:rPr lang="es-AR" dirty="0"/>
              <a:t>los cambios. Una muestra los cambios entre lo que hay en la zona de </a:t>
            </a:r>
            <a:r>
              <a:rPr lang="es-AR" dirty="0" smtClean="0"/>
              <a:t>preparación/</a:t>
            </a:r>
            <a:r>
              <a:rPr lang="es-AR" dirty="0" err="1" smtClean="0"/>
              <a:t>index</a:t>
            </a:r>
            <a:r>
              <a:rPr lang="es-AR" dirty="0" smtClean="0"/>
              <a:t> </a:t>
            </a:r>
            <a:r>
              <a:rPr lang="es-AR" dirty="0"/>
              <a:t>(</a:t>
            </a:r>
            <a:r>
              <a:rPr lang="es-AR" dirty="0" err="1"/>
              <a:t>staged</a:t>
            </a:r>
            <a:r>
              <a:rPr lang="es-AR" dirty="0"/>
              <a:t> </a:t>
            </a:r>
            <a:r>
              <a:rPr lang="es-AR" dirty="0" err="1"/>
              <a:t>state</a:t>
            </a:r>
            <a:r>
              <a:rPr lang="es-AR" dirty="0"/>
              <a:t>) y el archivo local </a:t>
            </a:r>
            <a:endParaRPr lang="es-AR" dirty="0" smtClean="0"/>
          </a:p>
          <a:p>
            <a:pPr fontAlgn="base"/>
            <a:r>
              <a:rPr lang="es-AR" dirty="0" smtClean="0"/>
              <a:t>(</a:t>
            </a:r>
            <a:r>
              <a:rPr lang="es-AR" dirty="0" err="1"/>
              <a:t>working</a:t>
            </a:r>
            <a:r>
              <a:rPr lang="es-AR" dirty="0"/>
              <a:t> </a:t>
            </a:r>
            <a:r>
              <a:rPr lang="es-AR" dirty="0" err="1"/>
              <a:t>tree</a:t>
            </a:r>
            <a:r>
              <a:rPr lang="es-AR" dirty="0"/>
              <a:t>) , y la otra muestra las diferencias entre lo que hay en la zona de preparación/</a:t>
            </a:r>
            <a:r>
              <a:rPr lang="es-AR" dirty="0" err="1"/>
              <a:t>index</a:t>
            </a:r>
            <a:r>
              <a:rPr lang="es-AR" dirty="0"/>
              <a:t> (</a:t>
            </a:r>
            <a:r>
              <a:rPr lang="es-AR" dirty="0" err="1"/>
              <a:t>staged</a:t>
            </a:r>
            <a:r>
              <a:rPr lang="es-AR" dirty="0"/>
              <a:t> </a:t>
            </a:r>
            <a:r>
              <a:rPr lang="es-AR" dirty="0" err="1"/>
              <a:t>state</a:t>
            </a:r>
            <a:r>
              <a:rPr lang="es-AR" dirty="0"/>
              <a:t>) y lo que </a:t>
            </a:r>
            <a:endParaRPr lang="es-AR" dirty="0" smtClean="0"/>
          </a:p>
          <a:p>
            <a:pPr fontAlgn="base"/>
            <a:r>
              <a:rPr lang="es-AR" dirty="0" smtClean="0"/>
              <a:t>hay </a:t>
            </a:r>
            <a:r>
              <a:rPr lang="es-AR" dirty="0"/>
              <a:t>ya confirmado en el repositorio/HEAD (</a:t>
            </a:r>
            <a:r>
              <a:rPr lang="es-AR" dirty="0" err="1"/>
              <a:t>repository</a:t>
            </a:r>
            <a:r>
              <a:rPr lang="es-AR" dirty="0"/>
              <a:t> </a:t>
            </a:r>
            <a:r>
              <a:rPr lang="es-AR" dirty="0" err="1"/>
              <a:t>state</a:t>
            </a:r>
            <a:r>
              <a:rPr lang="es-AR" dirty="0" smtClean="0"/>
              <a:t>).</a:t>
            </a:r>
          </a:p>
          <a:p>
            <a:pPr fontAlgn="base"/>
            <a:r>
              <a:rPr lang="es-AR" dirty="0" err="1"/>
              <a:t>Smartgit</a:t>
            </a:r>
            <a:r>
              <a:rPr lang="es-AR" dirty="0"/>
              <a:t> denomina a la zona de preparación (</a:t>
            </a:r>
            <a:r>
              <a:rPr lang="es-AR" dirty="0" err="1"/>
              <a:t>staging</a:t>
            </a:r>
            <a:r>
              <a:rPr lang="es-AR" dirty="0"/>
              <a:t> </a:t>
            </a:r>
            <a:r>
              <a:rPr lang="es-AR" dirty="0" err="1"/>
              <a:t>area</a:t>
            </a:r>
            <a:r>
              <a:rPr lang="es-AR" dirty="0"/>
              <a:t>) con el nombre de </a:t>
            </a:r>
            <a:r>
              <a:rPr lang="es-AR" dirty="0" err="1"/>
              <a:t>Index</a:t>
            </a:r>
            <a:r>
              <a:rPr lang="es-AR" dirty="0"/>
              <a:t>, al directorio de trabajo como </a:t>
            </a:r>
            <a:endParaRPr lang="es-AR" dirty="0" smtClean="0"/>
          </a:p>
          <a:p>
            <a:pPr fontAlgn="base"/>
            <a:r>
              <a:rPr lang="es-AR" dirty="0" err="1" smtClean="0"/>
              <a:t>Working</a:t>
            </a:r>
            <a:r>
              <a:rPr lang="es-AR" dirty="0" smtClean="0"/>
              <a:t> </a:t>
            </a:r>
            <a:r>
              <a:rPr lang="es-AR" dirty="0" err="1"/>
              <a:t>tree</a:t>
            </a:r>
            <a:r>
              <a:rPr lang="es-AR" dirty="0"/>
              <a:t> y a la zona de confirmaciones del repositorio como HEAD que sería el apuntador a la </a:t>
            </a:r>
            <a:r>
              <a:rPr lang="es-AR" dirty="0" smtClean="0"/>
              <a:t>rama </a:t>
            </a:r>
            <a:r>
              <a:rPr lang="es-AR" dirty="0"/>
              <a:t>local en la que tú estés </a:t>
            </a:r>
            <a:endParaRPr lang="es-AR" dirty="0" smtClean="0"/>
          </a:p>
          <a:p>
            <a:pPr fontAlgn="base"/>
            <a:r>
              <a:rPr lang="es-AR" dirty="0" smtClean="0"/>
              <a:t>en </a:t>
            </a:r>
            <a:r>
              <a:rPr lang="es-AR" dirty="0"/>
              <a:t>ese momento. En este caso, en la rama master.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9223" y="3088667"/>
            <a:ext cx="3787684" cy="348466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" y="2720975"/>
            <a:ext cx="12172950" cy="169545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36550" y="932240"/>
            <a:ext cx="11658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s-AR" dirty="0">
                <a:solidFill>
                  <a:srgbClr val="666666"/>
                </a:solidFill>
                <a:latin typeface="Bitter"/>
              </a:rPr>
              <a:t>Para pasar los cambios del directorio de trabajo a la zona de preparación (</a:t>
            </a:r>
            <a:r>
              <a:rPr lang="es-AR" dirty="0" err="1">
                <a:solidFill>
                  <a:srgbClr val="666666"/>
                </a:solidFill>
                <a:latin typeface="Bitter"/>
              </a:rPr>
              <a:t>Index</a:t>
            </a:r>
            <a:r>
              <a:rPr lang="es-AR" dirty="0">
                <a:solidFill>
                  <a:srgbClr val="666666"/>
                </a:solidFill>
                <a:latin typeface="Bitter"/>
              </a:rPr>
              <a:t>) se seleccionan los archivos de la lista y se usa la opción </a:t>
            </a:r>
            <a:r>
              <a:rPr lang="es-AR" dirty="0" err="1">
                <a:solidFill>
                  <a:srgbClr val="666666"/>
                </a:solidFill>
                <a:latin typeface="Bitter"/>
              </a:rPr>
              <a:t>Stage</a:t>
            </a:r>
            <a:r>
              <a:rPr lang="es-AR" dirty="0">
                <a:solidFill>
                  <a:srgbClr val="666666"/>
                </a:solidFill>
                <a:latin typeface="Bitter"/>
              </a:rPr>
              <a:t>. También se puede revertir esto, dejando fuera de la zona de preparación, usando la opción </a:t>
            </a:r>
            <a:r>
              <a:rPr lang="es-AR" dirty="0" err="1">
                <a:solidFill>
                  <a:srgbClr val="666666"/>
                </a:solidFill>
                <a:latin typeface="Bitter"/>
              </a:rPr>
              <a:t>Unstage</a:t>
            </a:r>
            <a:r>
              <a:rPr lang="es-AR" dirty="0">
                <a:solidFill>
                  <a:srgbClr val="666666"/>
                </a:solidFill>
                <a:latin typeface="Bitter"/>
              </a:rPr>
              <a:t>.</a:t>
            </a:r>
          </a:p>
          <a:p>
            <a:pPr fontAlgn="base"/>
            <a:r>
              <a:rPr lang="es-AR" dirty="0">
                <a:solidFill>
                  <a:srgbClr val="666666"/>
                </a:solidFill>
                <a:latin typeface="Bitter"/>
              </a:rPr>
              <a:t>También se pueden preparar líneas específicas de un archivo y dejar otras sin preparar. Para ello se usan los signos &lt;&lt; para preparar y &gt;&gt; para extraer de la zona de preparación</a:t>
            </a:r>
            <a:r>
              <a:rPr lang="es-AR" dirty="0" smtClean="0">
                <a:solidFill>
                  <a:srgbClr val="666666"/>
                </a:solidFill>
                <a:latin typeface="Bitter"/>
              </a:rPr>
              <a:t>.</a:t>
            </a:r>
            <a:endParaRPr lang="es-AR" dirty="0">
              <a:solidFill>
                <a:srgbClr val="666666"/>
              </a:solidFill>
              <a:latin typeface="Bitter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36550" y="5108832"/>
            <a:ext cx="1165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s-AR" dirty="0">
                <a:solidFill>
                  <a:srgbClr val="666666"/>
                </a:solidFill>
                <a:latin typeface="Bitter"/>
              </a:rPr>
              <a:t>Pulsando en la opción </a:t>
            </a:r>
            <a:r>
              <a:rPr lang="es-AR" dirty="0" err="1">
                <a:solidFill>
                  <a:srgbClr val="666666"/>
                </a:solidFill>
                <a:latin typeface="Bitter"/>
              </a:rPr>
              <a:t>Index</a:t>
            </a:r>
            <a:r>
              <a:rPr lang="es-AR" dirty="0">
                <a:solidFill>
                  <a:srgbClr val="666666"/>
                </a:solidFill>
                <a:latin typeface="Bitter"/>
              </a:rPr>
              <a:t> Editor se pueden ver las 3 áreas para la preparación y confirmación de cambios.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1800" y="1062610"/>
            <a:ext cx="11318152" cy="46269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2516</Words>
  <Application>Microsoft Office PowerPoint</Application>
  <PresentationFormat>Custom</PresentationFormat>
  <Paragraphs>445</Paragraphs>
  <Slides>47</Slides>
  <Notes>0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Tema de Office</vt:lpstr>
      <vt:lpstr>Clase Práctica I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Telefónica Argentina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admin_ntwks</dc:creator>
  <cp:lastModifiedBy>SALON</cp:lastModifiedBy>
  <cp:revision>72</cp:revision>
  <dcterms:created xsi:type="dcterms:W3CDTF">2016-04-04T15:26:00Z</dcterms:created>
  <dcterms:modified xsi:type="dcterms:W3CDTF">2019-04-05T12:28:38Z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